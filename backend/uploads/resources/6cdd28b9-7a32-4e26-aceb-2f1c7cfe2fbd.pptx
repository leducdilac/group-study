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5" r:id="rId1"/>
  </p:sldMasterIdLst>
  <p:notesMasterIdLst>
    <p:notesMasterId r:id="rId16"/>
  </p:notesMasterIdLst>
  <p:handoutMasterIdLst>
    <p:handoutMasterId r:id="rId17"/>
  </p:handoutMasterIdLst>
  <p:sldIdLst>
    <p:sldId id="1075" r:id="rId2"/>
    <p:sldId id="1058" r:id="rId3"/>
    <p:sldId id="1059" r:id="rId4"/>
    <p:sldId id="1060" r:id="rId5"/>
    <p:sldId id="1061" r:id="rId6"/>
    <p:sldId id="1076" r:id="rId7"/>
    <p:sldId id="1074" r:id="rId8"/>
    <p:sldId id="1062" r:id="rId9"/>
    <p:sldId id="1063" r:id="rId10"/>
    <p:sldId id="1064" r:id="rId11"/>
    <p:sldId id="1065" r:id="rId12"/>
    <p:sldId id="1066" r:id="rId13"/>
    <p:sldId id="1067" r:id="rId14"/>
    <p:sldId id="1068" r:id="rId15"/>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Kiểu Sáng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9885" autoAdjust="0"/>
    <p:restoredTop sz="89174" autoAdjust="0"/>
  </p:normalViewPr>
  <p:slideViewPr>
    <p:cSldViewPr>
      <p:cViewPr varScale="1">
        <p:scale>
          <a:sx n="60" d="100"/>
          <a:sy n="60" d="100"/>
        </p:scale>
        <p:origin x="-1188" y="-76"/>
      </p:cViewPr>
      <p:guideLst>
        <p:guide orient="horz" pos="2160"/>
        <p:guide pos="2880"/>
      </p:guideLst>
    </p:cSldViewPr>
  </p:slideViewPr>
  <p:notesTextViewPr>
    <p:cViewPr>
      <p:scale>
        <a:sx n="3" d="2"/>
        <a:sy n="3" d="2"/>
      </p:scale>
      <p:origin x="0" y="0"/>
    </p:cViewPr>
  </p:notesTextViewPr>
  <p:sorterViewPr>
    <p:cViewPr>
      <p:scale>
        <a:sx n="70" d="100"/>
        <a:sy n="7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endParaRPr lang="en-US"/>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588B6816-51E8-41C3-89ED-579E876714E4}" type="slidenum">
              <a:rPr lang="en-US" smtClean="0"/>
              <a:pPr/>
              <a:t>‹#›</a:t>
            </a:fld>
            <a:endParaRPr lang="en-US"/>
          </a:p>
        </p:txBody>
      </p:sp>
    </p:spTree>
    <p:extLst>
      <p:ext uri="{BB962C8B-B14F-4D97-AF65-F5344CB8AC3E}">
        <p14:creationId xmlns:p14="http://schemas.microsoft.com/office/powerpoint/2010/main" xmlns="" val="539705892"/>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GB"/>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endParaRPr lang="en-GB"/>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en-GB"/>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GB"/>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3D829925-E414-427C-A484-3D8FD32F1B43}" type="slidenum">
              <a:rPr lang="en-GB" smtClean="0"/>
              <a:pPr/>
              <a:t>‹#›</a:t>
            </a:fld>
            <a:endParaRPr lang="en-GB"/>
          </a:p>
        </p:txBody>
      </p:sp>
    </p:spTree>
    <p:extLst>
      <p:ext uri="{BB962C8B-B14F-4D97-AF65-F5344CB8AC3E}">
        <p14:creationId xmlns:p14="http://schemas.microsoft.com/office/powerpoint/2010/main" xmlns="" val="2691220969"/>
      </p:ext>
    </p:extLst>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1294668"/>
            <a:ext cx="9144000" cy="3574493"/>
          </a:xfrm>
        </p:spPr>
        <p:txBody>
          <a:bodyPr>
            <a:normAutofit/>
          </a:bodyPr>
          <a:lstStyle>
            <a:lvl1pPr algn="ctr">
              <a:defRPr sz="3000" b="1">
                <a:solidFill>
                  <a:srgbClr val="C00000"/>
                </a:solidFill>
                <a:effectLst>
                  <a:outerShdw blurRad="38100" dist="38100" dir="2700000" algn="tl">
                    <a:srgbClr val="000000">
                      <a:alpha val="43137"/>
                    </a:srgbClr>
                  </a:outerShdw>
                </a:effectLst>
                <a:latin typeface="+mj-lt"/>
              </a:defRPr>
            </a:lvl1pPr>
          </a:lstStyle>
          <a:p>
            <a:r>
              <a:rPr lang="en-US" dirty="0"/>
              <a:t>CLICK TO EDIT MASTER TITLE STYLE</a:t>
            </a:r>
            <a:endParaRPr lang="en-GB" dirty="0"/>
          </a:p>
        </p:txBody>
      </p:sp>
      <p:sp>
        <p:nvSpPr>
          <p:cNvPr id="3" name="Subtitle 2"/>
          <p:cNvSpPr>
            <a:spLocks noGrp="1"/>
          </p:cNvSpPr>
          <p:nvPr>
            <p:ph type="subTitle" idx="1"/>
          </p:nvPr>
        </p:nvSpPr>
        <p:spPr>
          <a:xfrm>
            <a:off x="251523" y="4869160"/>
            <a:ext cx="8640959" cy="1152128"/>
          </a:xfrm>
        </p:spPr>
        <p:txBody>
          <a:bodyPr>
            <a:normAutofit/>
          </a:bodyPr>
          <a:lstStyle>
            <a:lvl1pPr marL="0" indent="0" algn="ctr">
              <a:buNone/>
              <a:defRPr lang="en-GB" sz="1800"/>
            </a:lvl1pPr>
            <a:lvl2pPr marL="342891" indent="0" algn="ctr">
              <a:buNone/>
              <a:defRPr>
                <a:solidFill>
                  <a:schemeClr val="tx1">
                    <a:tint val="75000"/>
                  </a:schemeClr>
                </a:solidFill>
              </a:defRPr>
            </a:lvl2pPr>
            <a:lvl3pPr marL="685783" indent="0" algn="ctr">
              <a:buNone/>
              <a:defRPr>
                <a:solidFill>
                  <a:schemeClr val="tx1">
                    <a:tint val="75000"/>
                  </a:schemeClr>
                </a:solidFill>
              </a:defRPr>
            </a:lvl3pPr>
            <a:lvl4pPr marL="1028674" indent="0" algn="ctr">
              <a:buNone/>
              <a:defRPr>
                <a:solidFill>
                  <a:schemeClr val="tx1">
                    <a:tint val="75000"/>
                  </a:schemeClr>
                </a:solidFill>
              </a:defRPr>
            </a:lvl4pPr>
            <a:lvl5pPr marL="1371566" indent="0" algn="ctr">
              <a:buNone/>
              <a:defRPr>
                <a:solidFill>
                  <a:schemeClr val="tx1">
                    <a:tint val="75000"/>
                  </a:schemeClr>
                </a:solidFill>
              </a:defRPr>
            </a:lvl5pPr>
            <a:lvl6pPr marL="1714457" indent="0" algn="ctr">
              <a:buNone/>
              <a:defRPr>
                <a:solidFill>
                  <a:schemeClr val="tx1">
                    <a:tint val="75000"/>
                  </a:schemeClr>
                </a:solidFill>
              </a:defRPr>
            </a:lvl6pPr>
            <a:lvl7pPr marL="2057349" indent="0" algn="ctr">
              <a:buNone/>
              <a:defRPr>
                <a:solidFill>
                  <a:schemeClr val="tx1">
                    <a:tint val="75000"/>
                  </a:schemeClr>
                </a:solidFill>
              </a:defRPr>
            </a:lvl7pPr>
            <a:lvl8pPr marL="2400240" indent="0" algn="ctr">
              <a:buNone/>
              <a:defRPr>
                <a:solidFill>
                  <a:schemeClr val="tx1">
                    <a:tint val="75000"/>
                  </a:schemeClr>
                </a:solidFill>
              </a:defRPr>
            </a:lvl8pPr>
            <a:lvl9pPr marL="2743131" indent="0" algn="ctr">
              <a:buNone/>
              <a:defRPr>
                <a:solidFill>
                  <a:schemeClr val="tx1">
                    <a:tint val="75000"/>
                  </a:schemeClr>
                </a:solidFill>
              </a:defRPr>
            </a:lvl9pPr>
          </a:lstStyle>
          <a:p>
            <a:r>
              <a:rPr lang="en-US"/>
              <a:t>Click to edit Master subtitle style</a:t>
            </a:r>
            <a:endParaRPr lang="en-GB"/>
          </a:p>
        </p:txBody>
      </p:sp>
      <p:pic>
        <p:nvPicPr>
          <p:cNvPr id="5" name="Picture 4" descr="https://760a0bba-a-62cb3a1a-s-sites.googlegroups.com/site/nguyentiendungbkhn/Home/SEM_logo_2015%20%28Large%29.png?attachauth=ANoY7cqGMGN8XyPO6GpoGzRLFBNE2Q0awGtRjmmkjA660yuGKAsUiEqM6guDLVzoEKZXJ8TplMMIxQdr5bbcWq8DUDDjMdwx5lvPU1WYyycyp3JZ8lbs66jaJY3uDN-TyCj1kRVJ6_--JW4iFJGgFM2nEsun9yBafhSrlvZw4uKs0IZe9r_bew41B2pXpEmKS0Wggx-WWsKMCAlT4A23YjB7j2tJ65dLi3ejHocP35hsvJ7vW7su5I0MOcwtk5X8tOP99R0LHFb4&amp;attredirects=0">
            <a:extLst>
              <a:ext uri="{FF2B5EF4-FFF2-40B4-BE49-F238E27FC236}">
                <a16:creationId xmlns:a16="http://schemas.microsoft.com/office/drawing/2014/main" xmlns="" id="{C1CD0E83-E10A-4BFB-A2AD-F964A19E71B4}"/>
              </a:ext>
            </a:extLst>
          </p:cNvPr>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704349" y="158425"/>
            <a:ext cx="1110303" cy="1092678"/>
          </a:xfrm>
          <a:prstGeom prst="rect">
            <a:avLst/>
          </a:prstGeom>
          <a:noFill/>
          <a:extLst>
            <a:ext uri="{909E8E84-426E-40DD-AFC4-6F175D3DCCD1}">
              <a14:hiddenFill xmlns:a14="http://schemas.microsoft.com/office/drawing/2010/main" xmlns="">
                <a:solidFill>
                  <a:srgbClr val="FFFFFF"/>
                </a:solidFill>
              </a14:hiddenFill>
            </a:ext>
          </a:extLst>
        </p:spPr>
      </p:pic>
      <p:pic>
        <p:nvPicPr>
          <p:cNvPr id="6" name="Picture 2" descr="http://nguyentiendung.yolasite.com/resources/LogoBKchuan.jpg">
            <a:extLst>
              <a:ext uri="{FF2B5EF4-FFF2-40B4-BE49-F238E27FC236}">
                <a16:creationId xmlns:a16="http://schemas.microsoft.com/office/drawing/2014/main" xmlns="" id="{7DB7E11E-C024-4972-8CC8-DCC23AD95148}"/>
              </a:ext>
            </a:extLst>
          </p:cNvPr>
          <p:cNvPicPr>
            <a:picLocks noChangeAspect="1" noChangeArrowheads="1"/>
          </p:cNvPicPr>
          <p:nvPr userDrawn="1"/>
        </p:nvPicPr>
        <p:blipFill>
          <a:blip r:embed="rId3" cstate="print">
            <a:extLst>
              <a:ext uri="{28A0092B-C50C-407E-A947-70E740481C1C}">
                <a14:useLocalDpi xmlns:a14="http://schemas.microsoft.com/office/drawing/2010/main" xmlns="" val="0"/>
              </a:ext>
            </a:extLst>
          </a:blip>
          <a:srcRect/>
          <a:stretch>
            <a:fillRect/>
          </a:stretch>
        </p:blipFill>
        <p:spPr bwMode="auto">
          <a:xfrm>
            <a:off x="608601" y="217084"/>
            <a:ext cx="507016" cy="975360"/>
          </a:xfrm>
          <a:prstGeom prst="rect">
            <a:avLst/>
          </a:prstGeom>
          <a:noFill/>
          <a:extLst>
            <a:ext uri="{909E8E84-426E-40DD-AFC4-6F175D3DCCD1}">
              <a14:hiddenFill xmlns:a14="http://schemas.microsoft.com/office/drawing/2010/main" xmlns="">
                <a:solidFill>
                  <a:srgbClr val="FFFFFF"/>
                </a:solidFill>
              </a14:hiddenFill>
            </a:ext>
          </a:extLst>
        </p:spPr>
      </p:pic>
      <p:sp>
        <p:nvSpPr>
          <p:cNvPr id="7" name="TextBox 6">
            <a:extLst>
              <a:ext uri="{FF2B5EF4-FFF2-40B4-BE49-F238E27FC236}">
                <a16:creationId xmlns:a16="http://schemas.microsoft.com/office/drawing/2014/main" xmlns="" id="{F91A6871-C27F-48E5-8AA5-194553EE0015}"/>
              </a:ext>
            </a:extLst>
          </p:cNvPr>
          <p:cNvSpPr txBox="1"/>
          <p:nvPr userDrawn="1"/>
        </p:nvSpPr>
        <p:spPr>
          <a:xfrm>
            <a:off x="1115616" y="260650"/>
            <a:ext cx="6696744" cy="646331"/>
          </a:xfrm>
          <a:prstGeom prst="rect">
            <a:avLst/>
          </a:prstGeom>
          <a:noFill/>
        </p:spPr>
        <p:txBody>
          <a:bodyPr wrap="square" rtlCol="0">
            <a:spAutoFit/>
          </a:bodyPr>
          <a:lstStyle/>
          <a:p>
            <a:pPr algn="ctr"/>
            <a:r>
              <a:rPr lang="en-US" sz="1800" b="1">
                <a:solidFill>
                  <a:srgbClr val="C00000"/>
                </a:solidFill>
                <a:latin typeface="+mj-lt"/>
              </a:rPr>
              <a:t>TRƯỜNG ĐẠI HỌC BÁCH KHOA HÀ NỘI</a:t>
            </a:r>
          </a:p>
          <a:p>
            <a:pPr algn="ctr"/>
            <a:r>
              <a:rPr lang="en-US" sz="1800" b="1">
                <a:solidFill>
                  <a:schemeClr val="tx2">
                    <a:lumMod val="75000"/>
                  </a:schemeClr>
                </a:solidFill>
                <a:latin typeface="+mj-lt"/>
              </a:rPr>
              <a:t>VIỆN KINH TẾ VÀ QUẢN LÝ</a:t>
            </a:r>
            <a:endParaRPr lang="vi-VN" sz="1800" b="1" dirty="0">
              <a:solidFill>
                <a:schemeClr val="tx2">
                  <a:lumMod val="75000"/>
                </a:schemeClr>
              </a:solidFill>
              <a:latin typeface="+mj-lt"/>
            </a:endParaRPr>
          </a:p>
        </p:txBody>
      </p:sp>
    </p:spTree>
    <p:extLst>
      <p:ext uri="{BB962C8B-B14F-4D97-AF65-F5344CB8AC3E}">
        <p14:creationId xmlns:p14="http://schemas.microsoft.com/office/powerpoint/2010/main" xmlns="" val="950437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normAutofit/>
          </a:bodyPr>
          <a:lstStyle>
            <a:lvl1pPr marL="332177" indent="-332177">
              <a:buFont typeface="Arial" pitchFamily="34" charset="0"/>
              <a:buChar char="●"/>
              <a:tabLst>
                <a:tab pos="332177" algn="l"/>
              </a:tabLst>
              <a:defRPr lang="en-US" sz="2700" smtClean="0">
                <a:solidFill>
                  <a:schemeClr val="tx2">
                    <a:lumMod val="50000"/>
                  </a:schemeClr>
                </a:solidFill>
              </a:defRPr>
            </a:lvl1pPr>
            <a:lvl2pPr marL="671497" indent="-339321">
              <a:buFont typeface="Arial" pitchFamily="34" charset="0"/>
              <a:buChar char="●"/>
              <a:defRPr lang="en-US" sz="2400" smtClean="0">
                <a:solidFill>
                  <a:schemeClr val="accent2">
                    <a:lumMod val="50000"/>
                  </a:schemeClr>
                </a:solidFill>
              </a:defRPr>
            </a:lvl2pPr>
            <a:lvl3pPr marL="941762" indent="-270265">
              <a:buFont typeface="Arial" pitchFamily="34" charset="0"/>
              <a:buChar char="●"/>
              <a:defRPr lang="en-US" sz="2100" smtClean="0">
                <a:solidFill>
                  <a:schemeClr val="tx2">
                    <a:lumMod val="50000"/>
                  </a:schemeClr>
                </a:solidFill>
              </a:defRPr>
            </a:lvl3pPr>
            <a:lvl4pPr marL="1275128" indent="-264312">
              <a:buFont typeface="Arial" pitchFamily="34" charset="0"/>
              <a:buChar char="●"/>
              <a:defRPr lang="en-US" sz="1800" smtClean="0">
                <a:solidFill>
                  <a:schemeClr val="tx2">
                    <a:lumMod val="50000"/>
                  </a:schemeClr>
                </a:solidFill>
              </a:defRPr>
            </a:lvl4pPr>
            <a:lvl5pPr marL="1614448" indent="-270265">
              <a:buFont typeface="Arial" pitchFamily="34" charset="0"/>
              <a:buChar char="●"/>
              <a:tabLst>
                <a:tab pos="1614448" algn="l"/>
              </a:tabLst>
              <a:defRPr lang="en-GB" sz="1500">
                <a:solidFill>
                  <a:schemeClr val="accent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Slide Number Placeholder 5">
            <a:extLst>
              <a:ext uri="{FF2B5EF4-FFF2-40B4-BE49-F238E27FC236}">
                <a16:creationId xmlns:a16="http://schemas.microsoft.com/office/drawing/2014/main" xmlns="" id="{486EE1A6-3A19-4544-AD6C-E0E6112484F1}"/>
              </a:ext>
            </a:extLst>
          </p:cNvPr>
          <p:cNvSpPr>
            <a:spLocks noGrp="1"/>
          </p:cNvSpPr>
          <p:nvPr>
            <p:ph type="sldNum" sz="quarter" idx="4"/>
          </p:nvPr>
        </p:nvSpPr>
        <p:spPr>
          <a:xfrm>
            <a:off x="8298413" y="6597384"/>
            <a:ext cx="594067" cy="288000"/>
          </a:xfrm>
          <a:prstGeom prst="rect">
            <a:avLst/>
          </a:prstGeom>
        </p:spPr>
        <p:txBody>
          <a:bodyPr vert="horz" lIns="91440" tIns="0" rIns="91440" bIns="0" rtlCol="0" anchor="ctr" anchorCtr="0"/>
          <a:lstStyle>
            <a:lvl1pPr algn="r">
              <a:defRPr sz="900" b="1">
                <a:solidFill>
                  <a:schemeClr val="bg1"/>
                </a:solidFill>
                <a:latin typeface="+mn-lt"/>
              </a:defRPr>
            </a:lvl1pPr>
          </a:lstStyle>
          <a:p>
            <a:fld id="{A70E8B96-6C17-404C-B209-86071FBA2009}" type="slidenum">
              <a:rPr lang="en-GB" smtClean="0"/>
              <a:pPr/>
              <a:t>‹#›</a:t>
            </a:fld>
            <a:endParaRPr lang="en-GB"/>
          </a:p>
        </p:txBody>
      </p:sp>
      <p:sp>
        <p:nvSpPr>
          <p:cNvPr id="13" name="Date Placeholder 3">
            <a:extLst>
              <a:ext uri="{FF2B5EF4-FFF2-40B4-BE49-F238E27FC236}">
                <a16:creationId xmlns:a16="http://schemas.microsoft.com/office/drawing/2014/main" xmlns="" id="{7B35AAD1-D69B-4682-ABC0-9D7324530CB4}"/>
              </a:ext>
            </a:extLst>
          </p:cNvPr>
          <p:cNvSpPr>
            <a:spLocks noGrp="1"/>
          </p:cNvSpPr>
          <p:nvPr>
            <p:ph type="dt" sz="half" idx="2"/>
          </p:nvPr>
        </p:nvSpPr>
        <p:spPr>
          <a:xfrm>
            <a:off x="251520" y="6597384"/>
            <a:ext cx="7020781" cy="288000"/>
          </a:xfrm>
          <a:prstGeom prst="rect">
            <a:avLst/>
          </a:prstGeom>
        </p:spPr>
        <p:txBody>
          <a:bodyPr vert="horz" lIns="91440" tIns="0" rIns="91440" bIns="0" rtlCol="0" anchor="ctr" anchorCtr="0"/>
          <a:lstStyle>
            <a:lvl1pPr algn="l">
              <a:defRPr sz="900" b="0">
                <a:solidFill>
                  <a:schemeClr val="bg1"/>
                </a:solidFill>
                <a:latin typeface="+mn-lt"/>
              </a:defRPr>
            </a:lvl1pPr>
          </a:lstStyle>
          <a:p>
            <a:r>
              <a:rPr lang="en-US"/>
              <a:t>EM 3211 Nguyên lý marketing</a:t>
            </a:r>
            <a:endParaRPr lang="en-GB"/>
          </a:p>
        </p:txBody>
      </p:sp>
      <p:sp>
        <p:nvSpPr>
          <p:cNvPr id="14" name="Footer Placeholder 4">
            <a:extLst>
              <a:ext uri="{FF2B5EF4-FFF2-40B4-BE49-F238E27FC236}">
                <a16:creationId xmlns:a16="http://schemas.microsoft.com/office/drawing/2014/main" xmlns="" id="{F07FC018-23B7-4646-97FC-363313B8FE4A}"/>
              </a:ext>
            </a:extLst>
          </p:cNvPr>
          <p:cNvSpPr>
            <a:spLocks noGrp="1"/>
          </p:cNvSpPr>
          <p:nvPr>
            <p:ph type="ftr" sz="quarter" idx="3"/>
          </p:nvPr>
        </p:nvSpPr>
        <p:spPr>
          <a:xfrm>
            <a:off x="7272300" y="6597384"/>
            <a:ext cx="1026115" cy="288000"/>
          </a:xfrm>
          <a:prstGeom prst="rect">
            <a:avLst/>
          </a:prstGeom>
        </p:spPr>
        <p:txBody>
          <a:bodyPr vert="horz" lIns="91440" tIns="0" rIns="91440" bIns="0" rtlCol="0" anchor="ctr" anchorCtr="0"/>
          <a:lstStyle>
            <a:lvl1pPr algn="ctr">
              <a:defRPr sz="900" b="0">
                <a:solidFill>
                  <a:schemeClr val="bg1"/>
                </a:solidFill>
                <a:latin typeface="+mn-lt"/>
              </a:defRPr>
            </a:lvl1pPr>
          </a:lstStyle>
          <a:p>
            <a:endParaRPr lang="en-GB"/>
          </a:p>
        </p:txBody>
      </p:sp>
    </p:spTree>
    <p:extLst>
      <p:ext uri="{BB962C8B-B14F-4D97-AF65-F5344CB8AC3E}">
        <p14:creationId xmlns:p14="http://schemas.microsoft.com/office/powerpoint/2010/main" xmlns="" val="882108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3"/>
            <a:ext cx="4038600" cy="4525963"/>
          </a:xfrm>
        </p:spPr>
        <p:txBody>
          <a:bodyPr/>
          <a:lstStyle>
            <a:lvl1pPr>
              <a:defRPr sz="2100"/>
            </a:lvl1pPr>
            <a:lvl2pPr>
              <a:defRPr sz="1800"/>
            </a:lvl2pPr>
            <a:lvl3pPr>
              <a:defRPr sz="1500"/>
            </a:lvl3pPr>
            <a:lvl4pPr>
              <a:defRPr sz="1351"/>
            </a:lvl4pPr>
            <a:lvl5pPr>
              <a:defRPr sz="1351"/>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3"/>
            <a:ext cx="4038600" cy="4525963"/>
          </a:xfrm>
        </p:spPr>
        <p:txBody>
          <a:bodyPr/>
          <a:lstStyle>
            <a:lvl1pPr>
              <a:defRPr sz="2100"/>
            </a:lvl1pPr>
            <a:lvl2pPr>
              <a:defRPr sz="1800"/>
            </a:lvl2pPr>
            <a:lvl3pPr>
              <a:defRPr sz="1500"/>
            </a:lvl3pPr>
            <a:lvl4pPr>
              <a:defRPr sz="1351"/>
            </a:lvl4pPr>
            <a:lvl5pPr>
              <a:defRPr sz="1351"/>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r>
              <a:rPr lang="en-US"/>
              <a:t>EM 3211 Nguyên lý marketing</a:t>
            </a:r>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0E8B96-6C17-404C-B209-86071FBA2009}" type="slidenum">
              <a:rPr lang="en-GB" smtClean="0"/>
              <a:pPr/>
              <a:t>‹#›</a:t>
            </a:fld>
            <a:endParaRPr lang="en-GB"/>
          </a:p>
        </p:txBody>
      </p:sp>
    </p:spTree>
    <p:extLst>
      <p:ext uri="{BB962C8B-B14F-4D97-AF65-F5344CB8AC3E}">
        <p14:creationId xmlns:p14="http://schemas.microsoft.com/office/powerpoint/2010/main" xmlns="" val="585132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1" y="1535113"/>
            <a:ext cx="4040188" cy="639762"/>
          </a:xfrm>
        </p:spPr>
        <p:txBody>
          <a:bodyPr anchor="b"/>
          <a:lstStyle>
            <a:lvl1pPr marL="0" indent="0">
              <a:buNone/>
              <a:defRPr sz="18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1800"/>
            </a:lvl1pPr>
            <a:lvl2pPr>
              <a:defRPr sz="1500"/>
            </a:lvl2pPr>
            <a:lvl3pPr>
              <a:defRPr sz="1351"/>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18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1800"/>
            </a:lvl1pPr>
            <a:lvl2pPr>
              <a:defRPr sz="1500"/>
            </a:lvl2pPr>
            <a:lvl3pPr>
              <a:defRPr sz="1351"/>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r>
              <a:rPr lang="en-US"/>
              <a:t>EM 3211 Nguyên lý marketing</a:t>
            </a:r>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70E8B96-6C17-404C-B209-86071FBA2009}" type="slidenum">
              <a:rPr lang="en-GB" smtClean="0"/>
              <a:pPr/>
              <a:t>‹#›</a:t>
            </a:fld>
            <a:endParaRPr lang="en-GB"/>
          </a:p>
        </p:txBody>
      </p:sp>
    </p:spTree>
    <p:extLst>
      <p:ext uri="{BB962C8B-B14F-4D97-AF65-F5344CB8AC3E}">
        <p14:creationId xmlns:p14="http://schemas.microsoft.com/office/powerpoint/2010/main" xmlns="" val="2223374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r>
              <a:rPr lang="en-US"/>
              <a:t>EM 3211 Nguyên lý marketing</a:t>
            </a:r>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70E8B96-6C17-404C-B209-86071FBA2009}" type="slidenum">
              <a:rPr lang="en-GB" smtClean="0"/>
              <a:pPr/>
              <a:t>‹#›</a:t>
            </a:fld>
            <a:endParaRPr lang="en-GB"/>
          </a:p>
        </p:txBody>
      </p:sp>
    </p:spTree>
    <p:extLst>
      <p:ext uri="{BB962C8B-B14F-4D97-AF65-F5344CB8AC3E}">
        <p14:creationId xmlns:p14="http://schemas.microsoft.com/office/powerpoint/2010/main" xmlns="" val="391894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EM 3211 Nguyên lý marketing</a:t>
            </a:r>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70E8B96-6C17-404C-B209-86071FBA2009}" type="slidenum">
              <a:rPr lang="en-GB" smtClean="0"/>
              <a:pPr/>
              <a:t>‹#›</a:t>
            </a:fld>
            <a:endParaRPr lang="en-GB"/>
          </a:p>
        </p:txBody>
      </p:sp>
    </p:spTree>
    <p:extLst>
      <p:ext uri="{BB962C8B-B14F-4D97-AF65-F5344CB8AC3E}">
        <p14:creationId xmlns:p14="http://schemas.microsoft.com/office/powerpoint/2010/main" xmlns="" val="2125010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5050" y="273053"/>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EM 3211 Nguyên lý marketing</a:t>
            </a:r>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0E8B96-6C17-404C-B209-86071FBA2009}" type="slidenum">
              <a:rPr lang="en-GB" smtClean="0"/>
              <a:pPr/>
              <a:t>‹#›</a:t>
            </a:fld>
            <a:endParaRPr lang="en-GB"/>
          </a:p>
        </p:txBody>
      </p:sp>
    </p:spTree>
    <p:extLst>
      <p:ext uri="{BB962C8B-B14F-4D97-AF65-F5344CB8AC3E}">
        <p14:creationId xmlns:p14="http://schemas.microsoft.com/office/powerpoint/2010/main" xmlns="" val="1861831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r>
              <a:rPr lang="en-US"/>
              <a:t>Click icon to add picture</a:t>
            </a:r>
            <a:endParaRPr lang="en-GB"/>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EM 3211 Nguyên lý marketing</a:t>
            </a:r>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0E8B96-6C17-404C-B209-86071FBA2009}" type="slidenum">
              <a:rPr lang="en-GB" smtClean="0"/>
              <a:pPr/>
              <a:t>‹#›</a:t>
            </a:fld>
            <a:endParaRPr lang="en-GB"/>
          </a:p>
        </p:txBody>
      </p:sp>
    </p:spTree>
    <p:extLst>
      <p:ext uri="{BB962C8B-B14F-4D97-AF65-F5344CB8AC3E}">
        <p14:creationId xmlns:p14="http://schemas.microsoft.com/office/powerpoint/2010/main" xmlns="" val="1611458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r>
              <a:rPr lang="en-US"/>
              <a:t>EM 3211 Nguyên lý marketing</a:t>
            </a:r>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0E8B96-6C17-404C-B209-86071FBA2009}" type="slidenum">
              <a:rPr lang="en-GB" smtClean="0"/>
              <a:pPr/>
              <a:t>‹#›</a:t>
            </a:fld>
            <a:endParaRPr lang="en-GB"/>
          </a:p>
        </p:txBody>
      </p:sp>
    </p:spTree>
    <p:extLst>
      <p:ext uri="{BB962C8B-B14F-4D97-AF65-F5344CB8AC3E}">
        <p14:creationId xmlns:p14="http://schemas.microsoft.com/office/powerpoint/2010/main" xmlns="" val="1729609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41"/>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r>
              <a:rPr lang="en-US"/>
              <a:t>EM 3211 Nguyên lý marketing</a:t>
            </a:r>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0E8B96-6C17-404C-B209-86071FBA2009}" type="slidenum">
              <a:rPr lang="en-GB" smtClean="0"/>
              <a:pPr/>
              <a:t>‹#›</a:t>
            </a:fld>
            <a:endParaRPr lang="en-GB"/>
          </a:p>
        </p:txBody>
      </p:sp>
    </p:spTree>
    <p:extLst>
      <p:ext uri="{BB962C8B-B14F-4D97-AF65-F5344CB8AC3E}">
        <p14:creationId xmlns:p14="http://schemas.microsoft.com/office/powerpoint/2010/main" xmlns="" val="791925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2"/>
            <a:ext cx="9144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1"/>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xmlns="" val="0"/>
              </a:ext>
            </a:extLst>
          </a:blip>
          <a:stretch>
            <a:fillRect/>
          </a:stretch>
        </p:blipFill>
        <p:spPr>
          <a:xfrm>
            <a:off x="994411" y="0"/>
            <a:ext cx="1337391" cy="2971806"/>
          </a:xfrm>
          <a:prstGeom prst="rect">
            <a:avLst/>
          </a:prstGeom>
        </p:spPr>
      </p:pic>
      <p:sp>
        <p:nvSpPr>
          <p:cNvPr id="2" name="Title 1"/>
          <p:cNvSpPr>
            <a:spLocks noGrp="1"/>
          </p:cNvSpPr>
          <p:nvPr>
            <p:ph type="title"/>
          </p:nvPr>
        </p:nvSpPr>
        <p:spPr>
          <a:xfrm>
            <a:off x="828675" y="2971806"/>
            <a:ext cx="7553324" cy="1684150"/>
          </a:xfrm>
        </p:spPr>
        <p:txBody>
          <a:bodyPr anchor="ctr">
            <a:normAutofit/>
          </a:bodyPr>
          <a:lstStyle>
            <a:lvl1pPr>
              <a:defRPr sz="33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828675" y="4655956"/>
            <a:ext cx="7553324" cy="509750"/>
          </a:xfrm>
        </p:spPr>
        <p:txBody>
          <a:bodyPr>
            <a:normAutofit/>
          </a:bodyPr>
          <a:lstStyle>
            <a:lvl1pPr marL="0" indent="0">
              <a:spcBef>
                <a:spcPts val="0"/>
              </a:spcBef>
              <a:buNone/>
              <a:defRPr sz="1200">
                <a:solidFill>
                  <a:schemeClr val="bg1"/>
                </a:solidFill>
              </a:defRPr>
            </a:lvl1pPr>
            <a:lvl2pPr marL="342891" indent="0">
              <a:buNone/>
              <a:defRPr sz="1500">
                <a:solidFill>
                  <a:schemeClr val="tx1">
                    <a:tint val="75000"/>
                  </a:schemeClr>
                </a:solidFill>
              </a:defRPr>
            </a:lvl2pPr>
            <a:lvl3pPr marL="685783" indent="0">
              <a:buNone/>
              <a:defRPr sz="1351">
                <a:solidFill>
                  <a:schemeClr val="tx1">
                    <a:tint val="75000"/>
                  </a:schemeClr>
                </a:solidFill>
              </a:defRPr>
            </a:lvl3pPr>
            <a:lvl4pPr marL="1028674"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9" indent="0">
              <a:buNone/>
              <a:defRPr sz="1200">
                <a:solidFill>
                  <a:schemeClr val="tx1">
                    <a:tint val="75000"/>
                  </a:schemeClr>
                </a:solidFill>
              </a:defRPr>
            </a:lvl7pPr>
            <a:lvl8pPr marL="2400240" indent="0">
              <a:buNone/>
              <a:defRPr sz="1200">
                <a:solidFill>
                  <a:schemeClr val="tx1">
                    <a:tint val="75000"/>
                  </a:schemeClr>
                </a:solidFill>
              </a:defRPr>
            </a:lvl8pPr>
            <a:lvl9pPr marL="2743131"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EM 3211 Nguyên lý marketing</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006F06-64EE-4B82-80F6-828AA62CA30C}" type="slidenum">
              <a:rPr lang="en-US" smtClean="0"/>
              <a:pPr/>
              <a:t>‹#›</a:t>
            </a:fld>
            <a:endParaRPr lang="en-US"/>
          </a:p>
        </p:txBody>
      </p:sp>
    </p:spTree>
    <p:extLst>
      <p:ext uri="{BB962C8B-B14F-4D97-AF65-F5344CB8AC3E}">
        <p14:creationId xmlns:p14="http://schemas.microsoft.com/office/powerpoint/2010/main" xmlns="" val="350647528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520" y="44624"/>
            <a:ext cx="8640960" cy="108012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11" name="Rectangle 10">
            <a:extLst>
              <a:ext uri="{FF2B5EF4-FFF2-40B4-BE49-F238E27FC236}">
                <a16:creationId xmlns:a16="http://schemas.microsoft.com/office/drawing/2014/main" xmlns="" id="{5C7FD602-296B-411E-9ED8-8935DFBCD82B}"/>
              </a:ext>
            </a:extLst>
          </p:cNvPr>
          <p:cNvSpPr/>
          <p:nvPr/>
        </p:nvSpPr>
        <p:spPr>
          <a:xfrm>
            <a:off x="0" y="6597384"/>
            <a:ext cx="9144000" cy="288000"/>
          </a:xfrm>
          <a:prstGeom prst="rect">
            <a:avLst/>
          </a:prstGeom>
          <a:solidFill>
            <a:srgbClr val="B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3" name="Text Placeholder 2"/>
          <p:cNvSpPr>
            <a:spLocks noGrp="1"/>
          </p:cNvSpPr>
          <p:nvPr>
            <p:ph type="body" idx="1"/>
          </p:nvPr>
        </p:nvSpPr>
        <p:spPr>
          <a:xfrm>
            <a:off x="260711" y="1196753"/>
            <a:ext cx="8640960" cy="511256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2"/>
          </p:nvPr>
        </p:nvSpPr>
        <p:spPr>
          <a:xfrm>
            <a:off x="251520" y="6597384"/>
            <a:ext cx="7020781" cy="288000"/>
          </a:xfrm>
          <a:prstGeom prst="rect">
            <a:avLst/>
          </a:prstGeom>
        </p:spPr>
        <p:txBody>
          <a:bodyPr vert="horz" lIns="91440" tIns="0" rIns="91440" bIns="0" rtlCol="0" anchor="ctr" anchorCtr="0"/>
          <a:lstStyle>
            <a:lvl1pPr algn="l">
              <a:defRPr sz="900" b="0">
                <a:solidFill>
                  <a:schemeClr val="bg1"/>
                </a:solidFill>
                <a:latin typeface="+mn-lt"/>
              </a:defRPr>
            </a:lvl1pPr>
          </a:lstStyle>
          <a:p>
            <a:r>
              <a:rPr lang="en-US"/>
              <a:t>EM 3211 Nguyên lý marketing</a:t>
            </a:r>
            <a:endParaRPr lang="en-GB"/>
          </a:p>
        </p:txBody>
      </p:sp>
      <p:sp>
        <p:nvSpPr>
          <p:cNvPr id="5" name="Footer Placeholder 4"/>
          <p:cNvSpPr>
            <a:spLocks noGrp="1"/>
          </p:cNvSpPr>
          <p:nvPr>
            <p:ph type="ftr" sz="quarter" idx="3"/>
          </p:nvPr>
        </p:nvSpPr>
        <p:spPr>
          <a:xfrm>
            <a:off x="7272300" y="6597384"/>
            <a:ext cx="1026115" cy="288000"/>
          </a:xfrm>
          <a:prstGeom prst="rect">
            <a:avLst/>
          </a:prstGeom>
        </p:spPr>
        <p:txBody>
          <a:bodyPr vert="horz" lIns="91440" tIns="0" rIns="91440" bIns="0" rtlCol="0" anchor="ctr" anchorCtr="0"/>
          <a:lstStyle>
            <a:lvl1pPr algn="ctr">
              <a:defRPr sz="900" b="0">
                <a:solidFill>
                  <a:schemeClr val="bg1"/>
                </a:solidFill>
                <a:latin typeface="+mn-lt"/>
              </a:defRPr>
            </a:lvl1pPr>
          </a:lstStyle>
          <a:p>
            <a:endParaRPr lang="en-GB"/>
          </a:p>
        </p:txBody>
      </p:sp>
      <p:sp>
        <p:nvSpPr>
          <p:cNvPr id="6" name="Slide Number Placeholder 5"/>
          <p:cNvSpPr>
            <a:spLocks noGrp="1"/>
          </p:cNvSpPr>
          <p:nvPr>
            <p:ph type="sldNum" sz="quarter" idx="4"/>
          </p:nvPr>
        </p:nvSpPr>
        <p:spPr>
          <a:xfrm>
            <a:off x="8298413" y="6597384"/>
            <a:ext cx="594067" cy="288000"/>
          </a:xfrm>
          <a:prstGeom prst="rect">
            <a:avLst/>
          </a:prstGeom>
        </p:spPr>
        <p:txBody>
          <a:bodyPr vert="horz" lIns="91440" tIns="0" rIns="91440" bIns="0" rtlCol="0" anchor="ctr" anchorCtr="0"/>
          <a:lstStyle>
            <a:lvl1pPr algn="r">
              <a:defRPr sz="900" b="1">
                <a:solidFill>
                  <a:schemeClr val="bg1"/>
                </a:solidFill>
                <a:latin typeface="+mn-lt"/>
              </a:defRPr>
            </a:lvl1pPr>
          </a:lstStyle>
          <a:p>
            <a:fld id="{A70E8B96-6C17-404C-B209-86071FBA2009}" type="slidenum">
              <a:rPr lang="en-GB" smtClean="0"/>
              <a:pPr/>
              <a:t>‹#›</a:t>
            </a:fld>
            <a:endParaRPr lang="en-GB"/>
          </a:p>
        </p:txBody>
      </p:sp>
      <p:sp>
        <p:nvSpPr>
          <p:cNvPr id="12" name="Rectangle 11">
            <a:extLst>
              <a:ext uri="{FF2B5EF4-FFF2-40B4-BE49-F238E27FC236}">
                <a16:creationId xmlns:a16="http://schemas.microsoft.com/office/drawing/2014/main" xmlns="" id="{44E88F83-9762-4A75-BB32-90A68AB5688E}"/>
              </a:ext>
            </a:extLst>
          </p:cNvPr>
          <p:cNvSpPr/>
          <p:nvPr/>
        </p:nvSpPr>
        <p:spPr>
          <a:xfrm>
            <a:off x="-9190" y="6525344"/>
            <a:ext cx="9162380" cy="432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25">
              <a:latin typeface="+mj-lt"/>
            </a:endParaRPr>
          </a:p>
        </p:txBody>
      </p:sp>
    </p:spTree>
    <p:extLst>
      <p:ext uri="{BB962C8B-B14F-4D97-AF65-F5344CB8AC3E}">
        <p14:creationId xmlns:p14="http://schemas.microsoft.com/office/powerpoint/2010/main" xmlns="" val="68497622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hf hdr="0" dt="0"/>
  <p:txStyles>
    <p:titleStyle>
      <a:lvl1pPr algn="l" defTabSz="685783" rtl="0" eaLnBrk="1" latinLnBrk="0" hangingPunct="1">
        <a:spcBef>
          <a:spcPct val="0"/>
        </a:spcBef>
        <a:buNone/>
        <a:defRPr sz="3000" b="1" kern="1200">
          <a:solidFill>
            <a:srgbClr val="C00000"/>
          </a:solidFill>
          <a:effectLst>
            <a:outerShdw blurRad="38100" dist="38100" dir="2700000" algn="tl">
              <a:srgbClr val="000000">
                <a:alpha val="43137"/>
              </a:srgbClr>
            </a:outerShdw>
          </a:effectLst>
          <a:latin typeface="+mj-lt"/>
          <a:ea typeface="+mj-ea"/>
          <a:cs typeface="Segoe UI" panose="020B0502040204020203" pitchFamily="34" charset="0"/>
        </a:defRPr>
      </a:lvl1pPr>
    </p:titleStyle>
    <p:bodyStyle>
      <a:lvl1pPr marL="332177" indent="-332177" algn="l" defTabSz="685783" rtl="0" eaLnBrk="1" latinLnBrk="0" hangingPunct="1">
        <a:spcBef>
          <a:spcPts val="451"/>
        </a:spcBef>
        <a:buFont typeface="Arial" pitchFamily="34" charset="0"/>
        <a:buChar char="●"/>
        <a:tabLst>
          <a:tab pos="332177" algn="l"/>
        </a:tabLst>
        <a:defRPr lang="en-US" sz="2700" kern="1200" smtClean="0">
          <a:solidFill>
            <a:schemeClr val="bg2">
              <a:lumMod val="10000"/>
            </a:schemeClr>
          </a:solidFill>
          <a:effectLst>
            <a:outerShdw blurRad="38100" dist="38100" dir="2700000" algn="tl">
              <a:srgbClr val="000000">
                <a:alpha val="43137"/>
              </a:srgbClr>
            </a:outerShdw>
          </a:effectLst>
          <a:latin typeface="+mj-lt"/>
          <a:ea typeface="Arimo" panose="020B0604020202020204" pitchFamily="34" charset="0"/>
          <a:cs typeface="Arial" pitchFamily="34" charset="0"/>
        </a:defRPr>
      </a:lvl1pPr>
      <a:lvl2pPr marL="671497" indent="-328605" algn="l" defTabSz="872708" rtl="0" eaLnBrk="1" latinLnBrk="0" hangingPunct="1">
        <a:spcBef>
          <a:spcPts val="451"/>
        </a:spcBef>
        <a:buFont typeface="Arial" pitchFamily="34" charset="0"/>
        <a:buChar char="●"/>
        <a:tabLst>
          <a:tab pos="671497" algn="l"/>
        </a:tabLst>
        <a:defRPr lang="en-US" sz="2400" kern="1200" smtClean="0">
          <a:solidFill>
            <a:schemeClr val="accent2">
              <a:lumMod val="50000"/>
            </a:schemeClr>
          </a:solidFill>
          <a:effectLst>
            <a:outerShdw blurRad="38100" dist="38100" dir="2700000" algn="tl">
              <a:srgbClr val="000000">
                <a:alpha val="43137"/>
              </a:srgbClr>
            </a:outerShdw>
          </a:effectLst>
          <a:latin typeface="+mj-lt"/>
          <a:ea typeface="Arimo" panose="020B0604020202020204" pitchFamily="34" charset="0"/>
          <a:cs typeface="Arial" pitchFamily="34" charset="0"/>
        </a:defRPr>
      </a:lvl2pPr>
      <a:lvl3pPr marL="941762" indent="-270265" algn="l" defTabSz="685783" rtl="0" eaLnBrk="1" latinLnBrk="0" hangingPunct="1">
        <a:spcBef>
          <a:spcPts val="451"/>
        </a:spcBef>
        <a:buFont typeface="Arial" pitchFamily="34" charset="0"/>
        <a:buChar char="●"/>
        <a:tabLst>
          <a:tab pos="941762" algn="l"/>
        </a:tabLst>
        <a:defRPr lang="en-US" sz="2100" kern="1200" smtClean="0">
          <a:solidFill>
            <a:schemeClr val="tx2">
              <a:lumMod val="50000"/>
            </a:schemeClr>
          </a:solidFill>
          <a:effectLst>
            <a:outerShdw blurRad="38100" dist="38100" dir="2700000" algn="tl">
              <a:srgbClr val="000000">
                <a:alpha val="43137"/>
              </a:srgbClr>
            </a:outerShdw>
          </a:effectLst>
          <a:latin typeface="+mj-lt"/>
          <a:ea typeface="Arimo" panose="020B0604020202020204" pitchFamily="34" charset="0"/>
          <a:cs typeface="Arial" pitchFamily="34" charset="0"/>
        </a:defRPr>
      </a:lvl3pPr>
      <a:lvl4pPr marL="1275128" indent="-264312" algn="l" defTabSz="685783" rtl="0" eaLnBrk="1" latinLnBrk="0" hangingPunct="1">
        <a:spcBef>
          <a:spcPts val="451"/>
        </a:spcBef>
        <a:buFont typeface="Arial" pitchFamily="34" charset="0"/>
        <a:buChar char="●"/>
        <a:tabLst>
          <a:tab pos="1275128" algn="l"/>
        </a:tabLst>
        <a:defRPr lang="en-US" sz="1800" kern="1200" smtClean="0">
          <a:solidFill>
            <a:schemeClr val="accent4">
              <a:lumMod val="50000"/>
            </a:schemeClr>
          </a:solidFill>
          <a:effectLst>
            <a:outerShdw blurRad="38100" dist="38100" dir="2700000" algn="tl">
              <a:srgbClr val="000000">
                <a:alpha val="43137"/>
              </a:srgbClr>
            </a:outerShdw>
          </a:effectLst>
          <a:latin typeface="+mj-lt"/>
          <a:ea typeface="Arimo" panose="020B0604020202020204" pitchFamily="34" charset="0"/>
          <a:cs typeface="Arial" pitchFamily="34" charset="0"/>
        </a:defRPr>
      </a:lvl4pPr>
      <a:lvl5pPr marL="1614448" indent="-242882" algn="l" defTabSz="685783" rtl="0" eaLnBrk="1" latinLnBrk="0" hangingPunct="1">
        <a:spcBef>
          <a:spcPts val="451"/>
        </a:spcBef>
        <a:buFont typeface="Arial" pitchFamily="34" charset="0"/>
        <a:buChar char="●"/>
        <a:tabLst>
          <a:tab pos="1614448" algn="l"/>
        </a:tabLst>
        <a:defRPr lang="en-GB" sz="1500" kern="1200" dirty="0">
          <a:solidFill>
            <a:schemeClr val="accent2">
              <a:lumMod val="50000"/>
            </a:schemeClr>
          </a:solidFill>
          <a:effectLst>
            <a:outerShdw blurRad="38100" dist="38100" dir="2700000" algn="tl">
              <a:srgbClr val="000000">
                <a:alpha val="43137"/>
              </a:srgbClr>
            </a:outerShdw>
          </a:effectLst>
          <a:latin typeface="+mj-lt"/>
          <a:ea typeface="Arimo" panose="020B0604020202020204" pitchFamily="34" charset="0"/>
          <a:cs typeface="Arial" pitchFamily="34" charset="0"/>
        </a:defRPr>
      </a:lvl5pPr>
      <a:lvl6pPr marL="1885904"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95"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86"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78"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xmlns="" id="{2237DF72-4A82-8EA3-AAAD-342137254AEF}"/>
              </a:ext>
            </a:extLst>
          </p:cNvPr>
          <p:cNvSpPr>
            <a:spLocks noGrp="1"/>
          </p:cNvSpPr>
          <p:nvPr>
            <p:ph idx="1"/>
          </p:nvPr>
        </p:nvSpPr>
        <p:spPr/>
        <p:txBody>
          <a:bodyPr/>
          <a:lstStyle/>
          <a:p>
            <a:pPr marL="0" indent="0" algn="ctr">
              <a:lnSpc>
                <a:spcPct val="150000"/>
              </a:lnSpc>
              <a:spcBef>
                <a:spcPts val="600"/>
              </a:spcBef>
              <a:spcAft>
                <a:spcPts val="1200"/>
              </a:spcAft>
              <a:buNone/>
            </a:pPr>
            <a:r>
              <a:rPr lang="en-US" altLang="vi-VN" sz="2800" b="1" smtClean="0">
                <a:effectLst/>
              </a:rPr>
              <a:t>6.6 </a:t>
            </a:r>
            <a:r>
              <a:rPr lang="en-US" altLang="vi-VN" sz="2800" b="1" dirty="0">
                <a:effectLst/>
              </a:rPr>
              <a:t>PHÁP LUẬT VỀ</a:t>
            </a:r>
            <a:br>
              <a:rPr lang="en-US" altLang="vi-VN" sz="2800" b="1" dirty="0">
                <a:effectLst/>
              </a:rPr>
            </a:br>
            <a:r>
              <a:rPr lang="en-US" altLang="vi-VN" sz="2800" b="1" dirty="0">
                <a:effectLst/>
              </a:rPr>
              <a:t>PHÒNG, CHỐNG THAM NHŨNG</a:t>
            </a:r>
            <a:endParaRPr lang="vi-VN" dirty="0"/>
          </a:p>
        </p:txBody>
      </p:sp>
      <p:sp>
        <p:nvSpPr>
          <p:cNvPr id="4" name="Chỗ dành sẵn cho Số hiệu Bản chiếu 3">
            <a:extLst>
              <a:ext uri="{FF2B5EF4-FFF2-40B4-BE49-F238E27FC236}">
                <a16:creationId xmlns:a16="http://schemas.microsoft.com/office/drawing/2014/main" xmlns="" id="{252FFFD7-F334-6A9E-C6C1-36C9F8606607}"/>
              </a:ext>
            </a:extLst>
          </p:cNvPr>
          <p:cNvSpPr>
            <a:spLocks noGrp="1"/>
          </p:cNvSpPr>
          <p:nvPr>
            <p:ph type="sldNum" sz="quarter" idx="4"/>
          </p:nvPr>
        </p:nvSpPr>
        <p:spPr/>
        <p:txBody>
          <a:bodyPr/>
          <a:lstStyle/>
          <a:p>
            <a:fld id="{A70E8B96-6C17-404C-B209-86071FBA2009}" type="slidenum">
              <a:rPr lang="en-GB" smtClean="0"/>
              <a:pPr/>
              <a:t>1</a:t>
            </a:fld>
            <a:endParaRPr lang="en-GB"/>
          </a:p>
        </p:txBody>
      </p:sp>
      <p:sp>
        <p:nvSpPr>
          <p:cNvPr id="5" name="Chỗ dành sẵn cho Chân trang 4">
            <a:extLst>
              <a:ext uri="{FF2B5EF4-FFF2-40B4-BE49-F238E27FC236}">
                <a16:creationId xmlns:a16="http://schemas.microsoft.com/office/drawing/2014/main" xmlns="" id="{83AB4983-157E-84DB-C950-C6D3EA5A9EBE}"/>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xmlns="" val="1712737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66007A2-3135-CC0A-680B-F77CE5FB5DF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xmlns="" id="{9286EB3D-566E-43F2-F49C-17D34EECBC44}"/>
              </a:ext>
            </a:extLst>
          </p:cNvPr>
          <p:cNvSpPr>
            <a:spLocks noGrp="1" noChangeArrowheads="1"/>
          </p:cNvSpPr>
          <p:nvPr>
            <p:ph type="title"/>
          </p:nvPr>
        </p:nvSpPr>
        <p:spPr>
          <a:xfrm>
            <a:off x="457200" y="274638"/>
            <a:ext cx="8229600" cy="715962"/>
          </a:xfrm>
        </p:spPr>
        <p:txBody>
          <a:bodyPr/>
          <a:lstStyle/>
          <a:p>
            <a:pPr algn="ctr" eaLnBrk="1" hangingPunct="1"/>
            <a:r>
              <a:rPr lang="en-US" altLang="vi-VN" dirty="0" err="1">
                <a:effectLst/>
              </a:rPr>
              <a:t>Nội</a:t>
            </a:r>
            <a:r>
              <a:rPr lang="en-US" altLang="vi-VN" dirty="0">
                <a:effectLst/>
              </a:rPr>
              <a:t> dung</a:t>
            </a:r>
          </a:p>
        </p:txBody>
      </p:sp>
      <p:sp>
        <p:nvSpPr>
          <p:cNvPr id="3075" name="Rectangle 3">
            <a:extLst>
              <a:ext uri="{FF2B5EF4-FFF2-40B4-BE49-F238E27FC236}">
                <a16:creationId xmlns:a16="http://schemas.microsoft.com/office/drawing/2014/main" xmlns="" id="{F751847D-7B98-FCE5-766F-8CE7C5FD740F}"/>
              </a:ext>
            </a:extLst>
          </p:cNvPr>
          <p:cNvSpPr>
            <a:spLocks noGrp="1" noChangeArrowheads="1"/>
          </p:cNvSpPr>
          <p:nvPr>
            <p:ph type="body" idx="1"/>
          </p:nvPr>
        </p:nvSpPr>
        <p:spPr>
          <a:xfrm>
            <a:off x="457200" y="1371600"/>
            <a:ext cx="7924800" cy="4754563"/>
          </a:xfrm>
        </p:spPr>
        <p:txBody>
          <a:bodyPr/>
          <a:lstStyle/>
          <a:p>
            <a:pPr marL="0" indent="0" algn="just" eaLnBrk="1" hangingPunct="1">
              <a:spcBef>
                <a:spcPts val="600"/>
              </a:spcBef>
              <a:spcAft>
                <a:spcPts val="600"/>
              </a:spcAft>
              <a:buNone/>
            </a:pPr>
            <a:r>
              <a:rPr lang="en-US" altLang="vi-VN" sz="2000" dirty="0">
                <a:effectLst/>
                <a:latin typeface="Times New Roman" panose="02020603050405020304" pitchFamily="18" charset="0"/>
                <a:cs typeface="Times New Roman" panose="02020603050405020304" pitchFamily="18" charset="0"/>
              </a:rPr>
              <a:t>1. </a:t>
            </a:r>
            <a:r>
              <a:rPr lang="en-US" altLang="vi-VN" sz="2000" dirty="0" err="1">
                <a:effectLst/>
                <a:latin typeface="Times New Roman" panose="02020603050405020304" pitchFamily="18" charset="0"/>
                <a:cs typeface="Times New Roman" panose="02020603050405020304" pitchFamily="18" charset="0"/>
              </a:rPr>
              <a:t>Khái</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niệm</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dấu</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hiệu</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tham</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nhũng</a:t>
            </a:r>
            <a:endParaRPr lang="en-US" altLang="vi-VN" sz="2000" dirty="0">
              <a:effectLst/>
              <a:latin typeface="Times New Roman" panose="02020603050405020304" pitchFamily="18" charset="0"/>
              <a:cs typeface="Times New Roman" panose="02020603050405020304" pitchFamily="18" charset="0"/>
            </a:endParaRPr>
          </a:p>
          <a:p>
            <a:pPr marL="0" indent="0" algn="just" eaLnBrk="1" hangingPunct="1">
              <a:spcBef>
                <a:spcPts val="600"/>
              </a:spcBef>
              <a:spcAft>
                <a:spcPts val="600"/>
              </a:spcAft>
              <a:buNone/>
            </a:pPr>
            <a:r>
              <a:rPr lang="en-US" altLang="vi-VN" sz="2000" dirty="0">
                <a:effectLst/>
                <a:latin typeface="Times New Roman" panose="02020603050405020304" pitchFamily="18" charset="0"/>
                <a:cs typeface="Times New Roman" panose="02020603050405020304" pitchFamily="18" charset="0"/>
              </a:rPr>
              <a:t>2. </a:t>
            </a:r>
            <a:r>
              <a:rPr lang="en-US" altLang="vi-VN" sz="2000" dirty="0" err="1">
                <a:effectLst/>
                <a:latin typeface="Times New Roman" panose="02020603050405020304" pitchFamily="18" charset="0"/>
                <a:cs typeface="Times New Roman" panose="02020603050405020304" pitchFamily="18" charset="0"/>
              </a:rPr>
              <a:t>Chủ</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thể</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tham</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nhũng</a:t>
            </a:r>
            <a:endParaRPr lang="en-US" altLang="vi-VN" sz="2000" dirty="0">
              <a:effectLst/>
              <a:latin typeface="Times New Roman" panose="02020603050405020304" pitchFamily="18" charset="0"/>
              <a:cs typeface="Times New Roman" panose="02020603050405020304" pitchFamily="18" charset="0"/>
            </a:endParaRPr>
          </a:p>
          <a:p>
            <a:pPr marL="0" indent="0" algn="just" eaLnBrk="1" hangingPunct="1">
              <a:spcBef>
                <a:spcPts val="600"/>
              </a:spcBef>
              <a:spcAft>
                <a:spcPts val="600"/>
              </a:spcAft>
              <a:buNone/>
            </a:pPr>
            <a:r>
              <a:rPr lang="en-US" altLang="vi-VN" sz="2000" dirty="0">
                <a:effectLst/>
                <a:latin typeface="Times New Roman" panose="02020603050405020304" pitchFamily="18" charset="0"/>
                <a:cs typeface="Times New Roman" panose="02020603050405020304" pitchFamily="18" charset="0"/>
              </a:rPr>
              <a:t>3. Các </a:t>
            </a:r>
            <a:r>
              <a:rPr lang="en-US" altLang="vi-VN" sz="2000" dirty="0" err="1">
                <a:effectLst/>
                <a:latin typeface="Times New Roman" panose="02020603050405020304" pitchFamily="18" charset="0"/>
                <a:cs typeface="Times New Roman" panose="02020603050405020304" pitchFamily="18" charset="0"/>
              </a:rPr>
              <a:t>tội</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phạm</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về</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tham</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nhũng</a:t>
            </a:r>
            <a:endParaRPr lang="en-US" altLang="vi-VN" sz="2000" dirty="0">
              <a:effectLst/>
              <a:latin typeface="Times New Roman" panose="02020603050405020304" pitchFamily="18" charset="0"/>
              <a:cs typeface="Times New Roman" panose="02020603050405020304" pitchFamily="18" charset="0"/>
            </a:endParaRPr>
          </a:p>
          <a:p>
            <a:pPr marL="0" indent="0" algn="just" eaLnBrk="1" hangingPunct="1">
              <a:spcBef>
                <a:spcPts val="600"/>
              </a:spcBef>
              <a:spcAft>
                <a:spcPts val="600"/>
              </a:spcAft>
              <a:buNone/>
            </a:pPr>
            <a:r>
              <a:rPr lang="en-US" altLang="vi-VN" sz="2000" dirty="0">
                <a:effectLst/>
                <a:latin typeface="Times New Roman" panose="02020603050405020304" pitchFamily="18" charset="0"/>
                <a:cs typeface="Times New Roman" panose="02020603050405020304" pitchFamily="18" charset="0"/>
              </a:rPr>
              <a:t>4. Nguyên </a:t>
            </a:r>
            <a:r>
              <a:rPr lang="en-US" altLang="vi-VN" sz="2000" dirty="0" err="1">
                <a:effectLst/>
                <a:latin typeface="Times New Roman" panose="02020603050405020304" pitchFamily="18" charset="0"/>
                <a:cs typeface="Times New Roman" panose="02020603050405020304" pitchFamily="18" charset="0"/>
              </a:rPr>
              <a:t>nhân</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tham</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nhũng</a:t>
            </a:r>
            <a:endParaRPr lang="en-US" altLang="vi-VN" sz="2000" dirty="0">
              <a:effectLst/>
              <a:latin typeface="Times New Roman" panose="02020603050405020304" pitchFamily="18" charset="0"/>
              <a:cs typeface="Times New Roman" panose="02020603050405020304" pitchFamily="18" charset="0"/>
            </a:endParaRPr>
          </a:p>
          <a:p>
            <a:pPr marL="0" indent="0" algn="just" eaLnBrk="1" hangingPunct="1">
              <a:spcBef>
                <a:spcPts val="600"/>
              </a:spcBef>
              <a:spcAft>
                <a:spcPts val="600"/>
              </a:spcAft>
              <a:buNone/>
            </a:pPr>
            <a:r>
              <a:rPr lang="en-US" altLang="vi-VN" sz="2000" dirty="0">
                <a:effectLst/>
                <a:latin typeface="Times New Roman" panose="02020603050405020304" pitchFamily="18" charset="0"/>
                <a:cs typeface="Times New Roman" panose="02020603050405020304" pitchFamily="18" charset="0"/>
              </a:rPr>
              <a:t>5. </a:t>
            </a:r>
            <a:r>
              <a:rPr lang="en-US" altLang="vi-VN" sz="2000" dirty="0" err="1">
                <a:effectLst/>
                <a:latin typeface="Times New Roman" panose="02020603050405020304" pitchFamily="18" charset="0"/>
                <a:cs typeface="Times New Roman" panose="02020603050405020304" pitchFamily="18" charset="0"/>
              </a:rPr>
              <a:t>Tác</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hại</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của</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tham</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nhũng</a:t>
            </a:r>
            <a:endParaRPr lang="en-US" altLang="vi-VN" sz="2000" dirty="0">
              <a:effectLst/>
              <a:latin typeface="Times New Roman" panose="02020603050405020304" pitchFamily="18" charset="0"/>
              <a:cs typeface="Times New Roman" panose="02020603050405020304" pitchFamily="18" charset="0"/>
            </a:endParaRPr>
          </a:p>
          <a:p>
            <a:pPr marL="0" indent="0" algn="just" eaLnBrk="1" hangingPunct="1">
              <a:spcBef>
                <a:spcPts val="600"/>
              </a:spcBef>
              <a:spcAft>
                <a:spcPts val="600"/>
              </a:spcAft>
              <a:buNone/>
            </a:pPr>
            <a:r>
              <a:rPr lang="en-US" altLang="vi-VN" sz="2000" dirty="0">
                <a:effectLst/>
                <a:latin typeface="Times New Roman" panose="02020603050405020304" pitchFamily="18" charset="0"/>
                <a:cs typeface="Times New Roman" panose="02020603050405020304" pitchFamily="18" charset="0"/>
              </a:rPr>
              <a:t>6. Ý </a:t>
            </a:r>
            <a:r>
              <a:rPr lang="en-US" altLang="vi-VN" sz="2000" dirty="0" err="1">
                <a:effectLst/>
                <a:latin typeface="Times New Roman" panose="02020603050405020304" pitchFamily="18" charset="0"/>
                <a:cs typeface="Times New Roman" panose="02020603050405020304" pitchFamily="18" charset="0"/>
              </a:rPr>
              <a:t>nghĩa</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của</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việc</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phòng</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chống</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tham</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nhũng</a:t>
            </a:r>
            <a:endParaRPr lang="en-US" altLang="vi-VN" sz="2000" dirty="0">
              <a:effectLst/>
              <a:latin typeface="Times New Roman" panose="02020603050405020304" pitchFamily="18" charset="0"/>
              <a:cs typeface="Times New Roman" panose="02020603050405020304" pitchFamily="18" charset="0"/>
            </a:endParaRPr>
          </a:p>
          <a:p>
            <a:pPr marL="0" indent="0" algn="just" eaLnBrk="1" hangingPunct="1">
              <a:spcBef>
                <a:spcPts val="600"/>
              </a:spcBef>
              <a:spcAft>
                <a:spcPts val="600"/>
              </a:spcAft>
              <a:buNone/>
            </a:pPr>
            <a:r>
              <a:rPr lang="en-US" altLang="vi-VN" sz="2000" dirty="0">
                <a:effectLst/>
                <a:latin typeface="Times New Roman" panose="02020603050405020304" pitchFamily="18" charset="0"/>
                <a:cs typeface="Times New Roman" panose="02020603050405020304" pitchFamily="18" charset="0"/>
              </a:rPr>
              <a:t>7. Trách </a:t>
            </a:r>
            <a:r>
              <a:rPr lang="en-US" altLang="vi-VN" sz="2000" dirty="0" err="1">
                <a:effectLst/>
                <a:latin typeface="Times New Roman" panose="02020603050405020304" pitchFamily="18" charset="0"/>
                <a:cs typeface="Times New Roman" panose="02020603050405020304" pitchFamily="18" charset="0"/>
              </a:rPr>
              <a:t>nhiệm</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của</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công</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dân</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về</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việc</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phòng</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chống</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tham</a:t>
            </a:r>
            <a:r>
              <a:rPr lang="en-US" altLang="vi-VN" sz="2000" dirty="0">
                <a:effectLst/>
                <a:latin typeface="Times New Roman" panose="02020603050405020304" pitchFamily="18" charset="0"/>
                <a:cs typeface="Times New Roman" panose="02020603050405020304" pitchFamily="18" charset="0"/>
              </a:rPr>
              <a:t> </a:t>
            </a:r>
            <a:r>
              <a:rPr lang="en-US" altLang="vi-VN" sz="2000" dirty="0" err="1">
                <a:effectLst/>
                <a:latin typeface="Times New Roman" panose="02020603050405020304" pitchFamily="18" charset="0"/>
                <a:cs typeface="Times New Roman" panose="02020603050405020304" pitchFamily="18" charset="0"/>
              </a:rPr>
              <a:t>nhũng</a:t>
            </a:r>
            <a:endParaRPr lang="en-US" altLang="vi-VN" sz="2000" dirty="0">
              <a:effectLst/>
              <a:latin typeface="Times New Roman" panose="02020603050405020304" pitchFamily="18" charset="0"/>
              <a:cs typeface="Times New Roman" panose="02020603050405020304" pitchFamily="18" charset="0"/>
            </a:endParaRPr>
          </a:p>
          <a:p>
            <a:pPr eaLnBrk="1" hangingPunct="1">
              <a:lnSpc>
                <a:spcPct val="90000"/>
              </a:lnSpc>
            </a:pPr>
            <a:endParaRPr lang="en-US" altLang="vi-VN" sz="2400" dirty="0"/>
          </a:p>
        </p:txBody>
      </p:sp>
    </p:spTree>
    <p:extLst>
      <p:ext uri="{BB962C8B-B14F-4D97-AF65-F5344CB8AC3E}">
        <p14:creationId xmlns:p14="http://schemas.microsoft.com/office/powerpoint/2010/main" xmlns="" val="10135362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box(in)">
                                      <p:cBhvr>
                                        <p:cTn id="7" dur="500"/>
                                        <p:tgtEl>
                                          <p:spTgt spid="3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box(in)">
                                      <p:cBhvr>
                                        <p:cTn id="12" dur="500"/>
                                        <p:tgtEl>
                                          <p:spTgt spid="30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075">
                                            <p:txEl>
                                              <p:pRg st="2" end="2"/>
                                            </p:txEl>
                                          </p:spTgt>
                                        </p:tgtEl>
                                        <p:attrNameLst>
                                          <p:attrName>style.visibility</p:attrName>
                                        </p:attrNameLst>
                                      </p:cBhvr>
                                      <p:to>
                                        <p:strVal val="visible"/>
                                      </p:to>
                                    </p:set>
                                    <p:animEffect transition="in" filter="box(in)">
                                      <p:cBhvr>
                                        <p:cTn id="17" dur="500"/>
                                        <p:tgtEl>
                                          <p:spTgt spid="30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075">
                                            <p:txEl>
                                              <p:pRg st="3" end="3"/>
                                            </p:txEl>
                                          </p:spTgt>
                                        </p:tgtEl>
                                        <p:attrNameLst>
                                          <p:attrName>style.visibility</p:attrName>
                                        </p:attrNameLst>
                                      </p:cBhvr>
                                      <p:to>
                                        <p:strVal val="visible"/>
                                      </p:to>
                                    </p:set>
                                    <p:animEffect transition="in" filter="box(in)">
                                      <p:cBhvr>
                                        <p:cTn id="22" dur="500"/>
                                        <p:tgtEl>
                                          <p:spTgt spid="30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075">
                                            <p:txEl>
                                              <p:pRg st="4" end="4"/>
                                            </p:txEl>
                                          </p:spTgt>
                                        </p:tgtEl>
                                        <p:attrNameLst>
                                          <p:attrName>style.visibility</p:attrName>
                                        </p:attrNameLst>
                                      </p:cBhvr>
                                      <p:to>
                                        <p:strVal val="visible"/>
                                      </p:to>
                                    </p:set>
                                    <p:animEffect transition="in" filter="box(in)">
                                      <p:cBhvr>
                                        <p:cTn id="27" dur="500"/>
                                        <p:tgtEl>
                                          <p:spTgt spid="30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075">
                                            <p:txEl>
                                              <p:pRg st="5" end="5"/>
                                            </p:txEl>
                                          </p:spTgt>
                                        </p:tgtEl>
                                        <p:attrNameLst>
                                          <p:attrName>style.visibility</p:attrName>
                                        </p:attrNameLst>
                                      </p:cBhvr>
                                      <p:to>
                                        <p:strVal val="visible"/>
                                      </p:to>
                                    </p:set>
                                    <p:animEffect transition="in" filter="box(in)">
                                      <p:cBhvr>
                                        <p:cTn id="32" dur="500"/>
                                        <p:tgtEl>
                                          <p:spTgt spid="307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3075">
                                            <p:txEl>
                                              <p:pRg st="6" end="6"/>
                                            </p:txEl>
                                          </p:spTgt>
                                        </p:tgtEl>
                                        <p:attrNameLst>
                                          <p:attrName>style.visibility</p:attrName>
                                        </p:attrNameLst>
                                      </p:cBhvr>
                                      <p:to>
                                        <p:strVal val="visible"/>
                                      </p:to>
                                    </p:set>
                                    <p:animEffect transition="in" filter="box(in)">
                                      <p:cBhvr>
                                        <p:cTn id="37" dur="500"/>
                                        <p:tgtEl>
                                          <p:spTgt spid="30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48BA7AD-75A2-4FEA-8A8B-D825669CC6A8}"/>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xmlns="" id="{41E5FD06-9875-23AD-CBED-C67C6CE005AA}"/>
              </a:ext>
            </a:extLst>
          </p:cNvPr>
          <p:cNvSpPr>
            <a:spLocks noGrp="1" noChangeArrowheads="1"/>
          </p:cNvSpPr>
          <p:nvPr>
            <p:ph type="title"/>
          </p:nvPr>
        </p:nvSpPr>
        <p:spPr>
          <a:xfrm>
            <a:off x="457200" y="274638"/>
            <a:ext cx="8229600" cy="487362"/>
          </a:xfrm>
        </p:spPr>
        <p:txBody>
          <a:bodyPr/>
          <a:lstStyle/>
          <a:p>
            <a:pPr algn="ctr" eaLnBrk="1" hangingPunct="1"/>
            <a:r>
              <a:rPr lang="en-US" altLang="vi-VN" sz="2400" dirty="0">
                <a:effectLst/>
              </a:rPr>
              <a:t>1.1. </a:t>
            </a:r>
            <a:r>
              <a:rPr lang="en-US" altLang="vi-VN" sz="2400" dirty="0" err="1">
                <a:effectLst/>
              </a:rPr>
              <a:t>Khái</a:t>
            </a:r>
            <a:r>
              <a:rPr lang="en-US" altLang="vi-VN" sz="2400" dirty="0">
                <a:effectLst/>
              </a:rPr>
              <a:t> </a:t>
            </a:r>
            <a:r>
              <a:rPr lang="en-US" altLang="vi-VN" sz="2400" dirty="0" err="1">
                <a:effectLst/>
              </a:rPr>
              <a:t>niệm</a:t>
            </a:r>
            <a:r>
              <a:rPr lang="en-US" altLang="vi-VN" sz="2400" dirty="0">
                <a:effectLst/>
              </a:rPr>
              <a:t> </a:t>
            </a:r>
            <a:r>
              <a:rPr lang="en-US" altLang="vi-VN" sz="2400" dirty="0" err="1">
                <a:effectLst/>
              </a:rPr>
              <a:t>tham</a:t>
            </a:r>
            <a:r>
              <a:rPr lang="en-US" altLang="vi-VN" sz="2400" dirty="0">
                <a:effectLst/>
              </a:rPr>
              <a:t> </a:t>
            </a:r>
            <a:r>
              <a:rPr lang="en-US" altLang="vi-VN" sz="2400" dirty="0" err="1">
                <a:effectLst/>
              </a:rPr>
              <a:t>nhũng</a:t>
            </a:r>
            <a:endParaRPr lang="en-US" altLang="vi-VN" sz="2400" dirty="0">
              <a:effectLst/>
            </a:endParaRPr>
          </a:p>
        </p:txBody>
      </p:sp>
      <p:sp>
        <p:nvSpPr>
          <p:cNvPr id="10243" name="Rectangle 3">
            <a:extLst>
              <a:ext uri="{FF2B5EF4-FFF2-40B4-BE49-F238E27FC236}">
                <a16:creationId xmlns:a16="http://schemas.microsoft.com/office/drawing/2014/main" xmlns="" id="{08815C36-033C-81F7-FEAF-76D62109F0C6}"/>
              </a:ext>
            </a:extLst>
          </p:cNvPr>
          <p:cNvSpPr>
            <a:spLocks noGrp="1" noChangeArrowheads="1"/>
          </p:cNvSpPr>
          <p:nvPr>
            <p:ph type="body" idx="1"/>
          </p:nvPr>
        </p:nvSpPr>
        <p:spPr>
          <a:xfrm>
            <a:off x="457200" y="838200"/>
            <a:ext cx="8229600" cy="5791200"/>
          </a:xfrm>
        </p:spPr>
        <p:txBody>
          <a:bodyPr/>
          <a:lstStyle/>
          <a:p>
            <a:pPr algn="just" eaLnBrk="1" hangingPunct="1"/>
            <a:endParaRPr lang="en-US" altLang="vi-VN" i="1" dirty="0">
              <a:effectLst/>
            </a:endParaRPr>
          </a:p>
          <a:p>
            <a:pPr algn="just"/>
            <a:r>
              <a:rPr lang="vi-VN" dirty="0">
                <a:effectLst/>
              </a:rPr>
              <a:t>Theo Từ điển tiếng Việt, tham nhũng là </a:t>
            </a:r>
            <a:r>
              <a:rPr lang="en-US" dirty="0">
                <a:effectLst/>
              </a:rPr>
              <a:t>“</a:t>
            </a:r>
            <a:r>
              <a:rPr lang="vi-VN" i="1" dirty="0">
                <a:effectLst/>
              </a:rPr>
              <a:t>lợi dụng quyền hành để nhũng nhiễu dân và lấy của dân</a:t>
            </a:r>
            <a:r>
              <a:rPr lang="en-US" dirty="0">
                <a:effectLst/>
              </a:rPr>
              <a:t>”.</a:t>
            </a:r>
          </a:p>
          <a:p>
            <a:pPr algn="just"/>
            <a:endParaRPr lang="en-US" altLang="vi-VN" i="1" dirty="0">
              <a:effectLst/>
            </a:endParaRPr>
          </a:p>
          <a:p>
            <a:pPr algn="just" eaLnBrk="1" hangingPunct="1"/>
            <a:r>
              <a:rPr lang="en-US" altLang="vi-VN" dirty="0">
                <a:effectLst/>
              </a:rPr>
              <a:t>PL </a:t>
            </a:r>
            <a:r>
              <a:rPr lang="en-US" altLang="vi-VN" dirty="0" err="1">
                <a:effectLst/>
              </a:rPr>
              <a:t>quy</a:t>
            </a:r>
            <a:r>
              <a:rPr lang="en-US" altLang="vi-VN" dirty="0">
                <a:effectLst/>
              </a:rPr>
              <a:t> </a:t>
            </a:r>
            <a:r>
              <a:rPr lang="en-US" altLang="vi-VN" dirty="0" err="1">
                <a:effectLst/>
              </a:rPr>
              <a:t>định</a:t>
            </a:r>
            <a:r>
              <a:rPr lang="en-US" altLang="vi-VN" dirty="0">
                <a:effectLst/>
              </a:rPr>
              <a:t>: </a:t>
            </a:r>
            <a:r>
              <a:rPr lang="vi-VN" altLang="vi-VN" i="1" dirty="0">
                <a:effectLst/>
              </a:rPr>
              <a:t>Tham nhũng là </a:t>
            </a:r>
            <a:r>
              <a:rPr lang="vi-VN" altLang="vi-VN" i="1" u="sng" dirty="0">
                <a:effectLst/>
              </a:rPr>
              <a:t>hành vi</a:t>
            </a:r>
            <a:r>
              <a:rPr lang="vi-VN" altLang="vi-VN" i="1" dirty="0">
                <a:effectLst/>
              </a:rPr>
              <a:t> của người có chức vụ, quyền hạn đã lợi dụng chức vụ, quyền hạn đó vì vụ lợi.</a:t>
            </a:r>
            <a:endParaRPr lang="en-US" altLang="vi-VN" i="1" dirty="0">
              <a:effectLst/>
            </a:endParaRPr>
          </a:p>
        </p:txBody>
      </p:sp>
      <p:pic>
        <p:nvPicPr>
          <p:cNvPr id="10244" name="Picture 4">
            <a:extLst>
              <a:ext uri="{FF2B5EF4-FFF2-40B4-BE49-F238E27FC236}">
                <a16:creationId xmlns:a16="http://schemas.microsoft.com/office/drawing/2014/main" xmlns="" id="{428B7499-9332-E931-E0A4-C136E8F02F3F}"/>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272213" y="4038600"/>
            <a:ext cx="2438400" cy="2819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245" name="Picture 5">
            <a:extLst>
              <a:ext uri="{FF2B5EF4-FFF2-40B4-BE49-F238E27FC236}">
                <a16:creationId xmlns:a16="http://schemas.microsoft.com/office/drawing/2014/main" xmlns="" id="{E5AF7EEC-B1E2-7276-36F3-A5583A971363}"/>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286000" y="5419725"/>
            <a:ext cx="3733800" cy="1323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77207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43">
                                            <p:txEl>
                                              <p:pRg st="3" end="3"/>
                                            </p:txEl>
                                          </p:spTgt>
                                        </p:tgtEl>
                                        <p:attrNameLst>
                                          <p:attrName>style.visibility</p:attrName>
                                        </p:attrNameLst>
                                      </p:cBhvr>
                                      <p:to>
                                        <p:strVal val="visible"/>
                                      </p:to>
                                    </p:set>
                                    <p:animEffect transition="in" filter="fade">
                                      <p:cBhvr>
                                        <p:cTn id="7" dur="1000"/>
                                        <p:tgtEl>
                                          <p:spTgt spid="10243">
                                            <p:txEl>
                                              <p:pRg st="3" end="3"/>
                                            </p:txEl>
                                          </p:spTgt>
                                        </p:tgtEl>
                                      </p:cBhvr>
                                    </p:animEffect>
                                    <p:anim calcmode="lin" valueType="num">
                                      <p:cBhvr>
                                        <p:cTn id="8" dur="10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024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43">
                                            <p:txEl>
                                              <p:pRg st="1" end="1"/>
                                            </p:txEl>
                                          </p:spTgt>
                                        </p:tgtEl>
                                        <p:attrNameLst>
                                          <p:attrName>style.visibility</p:attrName>
                                        </p:attrNameLst>
                                      </p:cBhvr>
                                      <p:to>
                                        <p:strVal val="visible"/>
                                      </p:to>
                                    </p:set>
                                    <p:animEffect transition="in" filter="fade">
                                      <p:cBhvr>
                                        <p:cTn id="14" dur="1000"/>
                                        <p:tgtEl>
                                          <p:spTgt spid="10243">
                                            <p:txEl>
                                              <p:pRg st="1" end="1"/>
                                            </p:txEl>
                                          </p:spTgt>
                                        </p:tgtEl>
                                      </p:cBhvr>
                                    </p:animEffect>
                                    <p:anim calcmode="lin" valueType="num">
                                      <p:cBhvr>
                                        <p:cTn id="15" dur="10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24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8" presetClass="entr" presetSubtype="16" fill="hold" nodeType="clickEffect">
                                  <p:stCondLst>
                                    <p:cond delay="0"/>
                                  </p:stCondLst>
                                  <p:childTnLst>
                                    <p:set>
                                      <p:cBhvr>
                                        <p:cTn id="20" dur="1" fill="hold">
                                          <p:stCondLst>
                                            <p:cond delay="0"/>
                                          </p:stCondLst>
                                        </p:cTn>
                                        <p:tgtEl>
                                          <p:spTgt spid="10244"/>
                                        </p:tgtEl>
                                        <p:attrNameLst>
                                          <p:attrName>style.visibility</p:attrName>
                                        </p:attrNameLst>
                                      </p:cBhvr>
                                      <p:to>
                                        <p:strVal val="visible"/>
                                      </p:to>
                                    </p:set>
                                    <p:animEffect transition="in" filter="diamond(in)">
                                      <p:cBhvr>
                                        <p:cTn id="21" dur="2000"/>
                                        <p:tgtEl>
                                          <p:spTgt spid="1024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16" fill="hold" nodeType="clickEffect">
                                  <p:stCondLst>
                                    <p:cond delay="0"/>
                                  </p:stCondLst>
                                  <p:childTnLst>
                                    <p:set>
                                      <p:cBhvr>
                                        <p:cTn id="25" dur="1" fill="hold">
                                          <p:stCondLst>
                                            <p:cond delay="0"/>
                                          </p:stCondLst>
                                        </p:cTn>
                                        <p:tgtEl>
                                          <p:spTgt spid="10245"/>
                                        </p:tgtEl>
                                        <p:attrNameLst>
                                          <p:attrName>style.visibility</p:attrName>
                                        </p:attrNameLst>
                                      </p:cBhvr>
                                      <p:to>
                                        <p:strVal val="visible"/>
                                      </p:to>
                                    </p:set>
                                    <p:animEffect transition="in" filter="box(in)">
                                      <p:cBhvr>
                                        <p:cTn id="26" dur="500"/>
                                        <p:tgtEl>
                                          <p:spTgt spid="10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0ED6E59-B6AE-2BDD-D165-A1DAC545084F}"/>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xmlns="" id="{67CA8CDB-DAA6-B78D-C110-398C4FAC0479}"/>
              </a:ext>
            </a:extLst>
          </p:cNvPr>
          <p:cNvSpPr>
            <a:spLocks noGrp="1" noChangeArrowheads="1"/>
          </p:cNvSpPr>
          <p:nvPr>
            <p:ph type="title"/>
          </p:nvPr>
        </p:nvSpPr>
        <p:spPr>
          <a:xfrm>
            <a:off x="457200" y="76200"/>
            <a:ext cx="8229600" cy="563562"/>
          </a:xfrm>
        </p:spPr>
        <p:txBody>
          <a:bodyPr/>
          <a:lstStyle/>
          <a:p>
            <a:pPr eaLnBrk="1" hangingPunct="1"/>
            <a:r>
              <a:rPr lang="en-US" altLang="vi-VN" sz="2400" b="1" dirty="0">
                <a:effectLst/>
              </a:rPr>
              <a:t>1.2. Các </a:t>
            </a:r>
            <a:r>
              <a:rPr lang="en-US" altLang="vi-VN" sz="2400" dirty="0" err="1">
                <a:effectLst/>
              </a:rPr>
              <a:t>dấu</a:t>
            </a:r>
            <a:r>
              <a:rPr lang="en-US" altLang="vi-VN" sz="2400" dirty="0">
                <a:effectLst/>
              </a:rPr>
              <a:t> </a:t>
            </a:r>
            <a:r>
              <a:rPr lang="en-US" altLang="vi-VN" sz="2400" dirty="0" err="1">
                <a:effectLst/>
              </a:rPr>
              <a:t>hiệu</a:t>
            </a:r>
            <a:r>
              <a:rPr lang="en-US" altLang="vi-VN" sz="2400" dirty="0">
                <a:effectLst/>
              </a:rPr>
              <a:t> </a:t>
            </a:r>
            <a:r>
              <a:rPr lang="en-US" altLang="vi-VN" sz="2400" b="1" dirty="0" err="1">
                <a:effectLst/>
              </a:rPr>
              <a:t>cấu</a:t>
            </a:r>
            <a:r>
              <a:rPr lang="en-US" altLang="vi-VN" sz="2400" b="1" dirty="0">
                <a:effectLst/>
              </a:rPr>
              <a:t> </a:t>
            </a:r>
            <a:r>
              <a:rPr lang="en-US" altLang="vi-VN" sz="2400" b="1" dirty="0" err="1">
                <a:effectLst/>
              </a:rPr>
              <a:t>thành</a:t>
            </a:r>
            <a:r>
              <a:rPr lang="en-US" altLang="vi-VN" sz="2400" b="1" dirty="0">
                <a:effectLst/>
              </a:rPr>
              <a:t> </a:t>
            </a:r>
            <a:r>
              <a:rPr lang="en-US" altLang="vi-VN" sz="2400" b="1" dirty="0" err="1">
                <a:effectLst/>
              </a:rPr>
              <a:t>hành</a:t>
            </a:r>
            <a:r>
              <a:rPr lang="en-US" altLang="vi-VN" sz="2400" b="1" dirty="0">
                <a:effectLst/>
              </a:rPr>
              <a:t> vi </a:t>
            </a:r>
            <a:r>
              <a:rPr lang="en-US" altLang="vi-VN" sz="2400" b="1" dirty="0" err="1">
                <a:effectLst/>
              </a:rPr>
              <a:t>tham</a:t>
            </a:r>
            <a:r>
              <a:rPr lang="en-US" altLang="vi-VN" sz="2400" b="1" dirty="0">
                <a:effectLst/>
              </a:rPr>
              <a:t> </a:t>
            </a:r>
            <a:r>
              <a:rPr lang="en-US" altLang="vi-VN" sz="2400" b="1" dirty="0" err="1">
                <a:effectLst/>
              </a:rPr>
              <a:t>nhũng</a:t>
            </a:r>
            <a:endParaRPr lang="en-US" altLang="vi-VN" sz="2400" b="1" dirty="0">
              <a:effectLst/>
            </a:endParaRPr>
          </a:p>
        </p:txBody>
      </p:sp>
      <p:sp>
        <p:nvSpPr>
          <p:cNvPr id="11267" name="Rectangle 3">
            <a:extLst>
              <a:ext uri="{FF2B5EF4-FFF2-40B4-BE49-F238E27FC236}">
                <a16:creationId xmlns:a16="http://schemas.microsoft.com/office/drawing/2014/main" xmlns="" id="{2E6A4F04-51DE-D51B-B48D-105774111199}"/>
              </a:ext>
            </a:extLst>
          </p:cNvPr>
          <p:cNvSpPr>
            <a:spLocks noGrp="1" noChangeArrowheads="1"/>
          </p:cNvSpPr>
          <p:nvPr>
            <p:ph type="body" idx="1"/>
          </p:nvPr>
        </p:nvSpPr>
        <p:spPr>
          <a:xfrm>
            <a:off x="457200" y="762000"/>
            <a:ext cx="8229600" cy="5867400"/>
          </a:xfrm>
        </p:spPr>
        <p:txBody>
          <a:bodyPr/>
          <a:lstStyle/>
          <a:p>
            <a:pPr algn="just" eaLnBrk="1" hangingPunct="1">
              <a:spcBef>
                <a:spcPts val="600"/>
              </a:spcBef>
              <a:spcAft>
                <a:spcPts val="600"/>
              </a:spcAft>
            </a:pPr>
            <a:r>
              <a:rPr lang="vi-VN" altLang="vi-VN" sz="2000" i="1" dirty="0">
                <a:effectLst/>
              </a:rPr>
              <a:t>Thứ nhất</a:t>
            </a:r>
            <a:r>
              <a:rPr lang="vi-VN" altLang="vi-VN" sz="2000" dirty="0">
                <a:effectLst/>
              </a:rPr>
              <a:t>, hành vi này được thực hiện bởi một đối tượng đặc biệt là </a:t>
            </a:r>
            <a:r>
              <a:rPr lang="vi-VN" altLang="vi-VN" sz="2000" b="1" dirty="0">
                <a:effectLst/>
              </a:rPr>
              <a:t>người có chức vụ, quyền hạn</a:t>
            </a:r>
            <a:r>
              <a:rPr lang="en-US" altLang="vi-VN" sz="2000" dirty="0">
                <a:effectLst/>
              </a:rPr>
              <a:t>.</a:t>
            </a:r>
          </a:p>
          <a:p>
            <a:pPr algn="just" eaLnBrk="1" hangingPunct="1">
              <a:spcBef>
                <a:spcPts val="600"/>
              </a:spcBef>
              <a:spcAft>
                <a:spcPts val="600"/>
              </a:spcAft>
            </a:pPr>
            <a:r>
              <a:rPr lang="en-US" altLang="vi-VN" sz="2000" i="1" dirty="0">
                <a:effectLst/>
              </a:rPr>
              <a:t>T</a:t>
            </a:r>
            <a:r>
              <a:rPr lang="vi-VN" altLang="vi-VN" sz="2000" i="1" dirty="0" err="1">
                <a:effectLst/>
              </a:rPr>
              <a:t>hứ</a:t>
            </a:r>
            <a:r>
              <a:rPr lang="vi-VN" altLang="vi-VN" sz="2000" i="1" dirty="0">
                <a:effectLst/>
              </a:rPr>
              <a:t> hai</a:t>
            </a:r>
            <a:r>
              <a:rPr lang="vi-VN" altLang="vi-VN" sz="2000" dirty="0">
                <a:effectLst/>
              </a:rPr>
              <a:t>, người có chức vụ, quyền hạn đã </a:t>
            </a:r>
            <a:r>
              <a:rPr lang="vi-VN" altLang="vi-VN" sz="2000" b="1" dirty="0">
                <a:effectLst/>
              </a:rPr>
              <a:t>lợi dụng</a:t>
            </a:r>
            <a:r>
              <a:rPr lang="vi-VN" altLang="vi-VN" sz="2000" dirty="0">
                <a:effectLst/>
              </a:rPr>
              <a:t> chức vụ, quyền hạn đó khi thực hiện nhiệm vụ, công vụ được giao</a:t>
            </a:r>
            <a:r>
              <a:rPr lang="en-US" altLang="vi-VN" sz="2000" dirty="0">
                <a:effectLst/>
              </a:rPr>
              <a:t>.</a:t>
            </a:r>
            <a:r>
              <a:rPr lang="vi-VN" altLang="vi-VN" sz="2000" dirty="0">
                <a:effectLst/>
              </a:rPr>
              <a:t> </a:t>
            </a:r>
            <a:endParaRPr lang="en-US" altLang="vi-VN" sz="2000" dirty="0">
              <a:effectLst/>
            </a:endParaRPr>
          </a:p>
          <a:p>
            <a:pPr algn="just" eaLnBrk="1" hangingPunct="1">
              <a:spcBef>
                <a:spcPts val="600"/>
              </a:spcBef>
              <a:spcAft>
                <a:spcPts val="600"/>
              </a:spcAft>
            </a:pPr>
            <a:r>
              <a:rPr lang="en-US" altLang="vi-VN" sz="2000" i="1" dirty="0">
                <a:effectLst/>
              </a:rPr>
              <a:t>T</a:t>
            </a:r>
            <a:r>
              <a:rPr lang="vi-VN" altLang="vi-VN" sz="2000" i="1" dirty="0" err="1">
                <a:effectLst/>
              </a:rPr>
              <a:t>hứ</a:t>
            </a:r>
            <a:r>
              <a:rPr lang="vi-VN" altLang="vi-VN" sz="2000" i="1" dirty="0">
                <a:effectLst/>
              </a:rPr>
              <a:t> ba</a:t>
            </a:r>
            <a:r>
              <a:rPr lang="vi-VN" altLang="vi-VN" sz="2000" dirty="0">
                <a:effectLst/>
              </a:rPr>
              <a:t>, </a:t>
            </a:r>
            <a:r>
              <a:rPr lang="en-US" altLang="vi-VN" sz="2000" dirty="0" err="1">
                <a:effectLst/>
              </a:rPr>
              <a:t>động</a:t>
            </a:r>
            <a:r>
              <a:rPr lang="en-US" altLang="vi-VN" sz="2000" dirty="0">
                <a:effectLst/>
              </a:rPr>
              <a:t> </a:t>
            </a:r>
            <a:r>
              <a:rPr lang="en-US" altLang="vi-VN" sz="2000" dirty="0" err="1">
                <a:effectLst/>
              </a:rPr>
              <a:t>cơ</a:t>
            </a:r>
            <a:r>
              <a:rPr lang="en-US" altLang="vi-VN" sz="2000" dirty="0">
                <a:effectLst/>
              </a:rPr>
              <a:t> </a:t>
            </a:r>
            <a:r>
              <a:rPr lang="vi-VN" altLang="vi-VN" sz="2000" dirty="0">
                <a:effectLst/>
              </a:rPr>
              <a:t>hành vi này thực hiện với </a:t>
            </a:r>
            <a:r>
              <a:rPr lang="vi-VN" altLang="vi-VN" sz="2000" b="1" dirty="0">
                <a:effectLst/>
              </a:rPr>
              <a:t>mục đích vì vụ lợi</a:t>
            </a:r>
            <a:r>
              <a:rPr lang="vi-VN" altLang="vi-VN" sz="2000" dirty="0">
                <a:effectLst/>
              </a:rPr>
              <a:t>. </a:t>
            </a:r>
            <a:r>
              <a:rPr lang="en-US" altLang="vi-VN" sz="2000" dirty="0">
                <a:effectLst/>
              </a:rPr>
              <a:t>V</a:t>
            </a:r>
            <a:r>
              <a:rPr lang="vi-VN" altLang="vi-VN" sz="2000" dirty="0">
                <a:effectLst/>
              </a:rPr>
              <a:t>ụ lợi được hiểu không chỉ là vụ lợi cho cá nhân mình mà còn có thể là vụ lợi cho cơ quan, tổ chức, đơn vị, địa phương mình hoặc tổ chức, cá nhân khác. Lợi ích </a:t>
            </a:r>
            <a:r>
              <a:rPr lang="en-US" altLang="vi-VN" sz="2000" dirty="0" err="1">
                <a:effectLst/>
              </a:rPr>
              <a:t>có</a:t>
            </a:r>
            <a:r>
              <a:rPr lang="en-US" altLang="vi-VN" sz="2000" dirty="0">
                <a:effectLst/>
              </a:rPr>
              <a:t> </a:t>
            </a:r>
            <a:r>
              <a:rPr lang="en-US" altLang="vi-VN" sz="2000" dirty="0" err="1">
                <a:effectLst/>
              </a:rPr>
              <a:t>thể</a:t>
            </a:r>
            <a:r>
              <a:rPr lang="en-US" altLang="vi-VN" sz="2000" dirty="0">
                <a:effectLst/>
              </a:rPr>
              <a:t> </a:t>
            </a:r>
            <a:r>
              <a:rPr lang="vi-VN" altLang="vi-VN" sz="2000" dirty="0">
                <a:effectLst/>
              </a:rPr>
              <a:t>là lợi ích về vật chất </a:t>
            </a:r>
            <a:r>
              <a:rPr lang="en-US" altLang="vi-VN" sz="2000" dirty="0" err="1">
                <a:effectLst/>
              </a:rPr>
              <a:t>hoặc</a:t>
            </a:r>
            <a:r>
              <a:rPr lang="en-US" altLang="vi-VN" sz="2000" dirty="0">
                <a:effectLst/>
              </a:rPr>
              <a:t> </a:t>
            </a:r>
            <a:r>
              <a:rPr lang="vi-VN" altLang="vi-VN" sz="2000" dirty="0">
                <a:effectLst/>
              </a:rPr>
              <a:t>lợi ích về tinh thần. Lợi ích đó có thể trực tiếp hoặc gián tiếp. </a:t>
            </a:r>
            <a:endParaRPr lang="en-US" altLang="vi-VN" sz="2000" dirty="0">
              <a:effectLst/>
            </a:endParaRPr>
          </a:p>
          <a:p>
            <a:pPr algn="just" eaLnBrk="1" hangingPunct="1">
              <a:spcBef>
                <a:spcPts val="600"/>
              </a:spcBef>
              <a:spcAft>
                <a:spcPts val="600"/>
              </a:spcAft>
            </a:pPr>
            <a:r>
              <a:rPr lang="vi-VN" altLang="vi-VN" sz="2000" dirty="0">
                <a:effectLst/>
              </a:rPr>
              <a:t>Được coi là hành vi tham nhũng </a:t>
            </a:r>
            <a:r>
              <a:rPr lang="vi-VN" altLang="vi-VN" sz="2000" b="1" dirty="0">
                <a:effectLst/>
              </a:rPr>
              <a:t>nếu có đủ cả ba yếu tố</a:t>
            </a:r>
            <a:r>
              <a:rPr lang="vi-VN" altLang="vi-VN" sz="2000" dirty="0">
                <a:effectLst/>
              </a:rPr>
              <a:t>, nếu thiếu một trong các yếu tố đó thì tuy không là tham nhũng, nhưng có thể là </a:t>
            </a:r>
            <a:r>
              <a:rPr lang="vi-VN" altLang="vi-VN" sz="2000" b="1" dirty="0">
                <a:effectLst/>
              </a:rPr>
              <a:t>một hành vi vi phạm pháp luật khác</a:t>
            </a:r>
            <a:r>
              <a:rPr lang="vi-VN" altLang="vi-VN" sz="2000" dirty="0">
                <a:effectLst/>
              </a:rPr>
              <a:t> (chẳng hạn: hành vi cố ý làm trái, lạm dụng tín nhiệm chiếm đoạt tài sản).</a:t>
            </a:r>
            <a:endParaRPr lang="en-US" altLang="vi-VN" sz="2000" dirty="0">
              <a:effectLst/>
            </a:endParaRPr>
          </a:p>
        </p:txBody>
      </p:sp>
    </p:spTree>
    <p:extLst>
      <p:ext uri="{BB962C8B-B14F-4D97-AF65-F5344CB8AC3E}">
        <p14:creationId xmlns:p14="http://schemas.microsoft.com/office/powerpoint/2010/main" xmlns="" val="20218243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fade">
                                      <p:cBhvr>
                                        <p:cTn id="7" dur="1000"/>
                                        <p:tgtEl>
                                          <p:spTgt spid="11267">
                                            <p:txEl>
                                              <p:pRg st="0" end="0"/>
                                            </p:txEl>
                                          </p:spTgt>
                                        </p:tgtEl>
                                      </p:cBhvr>
                                    </p:animEffect>
                                    <p:anim calcmode="lin" valueType="num">
                                      <p:cBhvr>
                                        <p:cTn id="8" dur="10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26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1267">
                                            <p:txEl>
                                              <p:pRg st="1" end="1"/>
                                            </p:txEl>
                                          </p:spTgt>
                                        </p:tgtEl>
                                        <p:attrNameLst>
                                          <p:attrName>style.visibility</p:attrName>
                                        </p:attrNameLst>
                                      </p:cBhvr>
                                      <p:to>
                                        <p:strVal val="visible"/>
                                      </p:to>
                                    </p:set>
                                    <p:animEffect transition="in" filter="fade">
                                      <p:cBhvr>
                                        <p:cTn id="14" dur="1000"/>
                                        <p:tgtEl>
                                          <p:spTgt spid="11267">
                                            <p:txEl>
                                              <p:pRg st="1" end="1"/>
                                            </p:txEl>
                                          </p:spTgt>
                                        </p:tgtEl>
                                      </p:cBhvr>
                                    </p:animEffect>
                                    <p:anim calcmode="lin" valueType="num">
                                      <p:cBhvr>
                                        <p:cTn id="15" dur="10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126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1267">
                                            <p:txEl>
                                              <p:pRg st="2" end="2"/>
                                            </p:txEl>
                                          </p:spTgt>
                                        </p:tgtEl>
                                        <p:attrNameLst>
                                          <p:attrName>style.visibility</p:attrName>
                                        </p:attrNameLst>
                                      </p:cBhvr>
                                      <p:to>
                                        <p:strVal val="visible"/>
                                      </p:to>
                                    </p:set>
                                    <p:animEffect transition="in" filter="fade">
                                      <p:cBhvr>
                                        <p:cTn id="21" dur="1000"/>
                                        <p:tgtEl>
                                          <p:spTgt spid="11267">
                                            <p:txEl>
                                              <p:pRg st="2" end="2"/>
                                            </p:txEl>
                                          </p:spTgt>
                                        </p:tgtEl>
                                      </p:cBhvr>
                                    </p:animEffect>
                                    <p:anim calcmode="lin" valueType="num">
                                      <p:cBhvr>
                                        <p:cTn id="22" dur="10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126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1267">
                                            <p:txEl>
                                              <p:pRg st="3" end="3"/>
                                            </p:txEl>
                                          </p:spTgt>
                                        </p:tgtEl>
                                        <p:attrNameLst>
                                          <p:attrName>style.visibility</p:attrName>
                                        </p:attrNameLst>
                                      </p:cBhvr>
                                      <p:to>
                                        <p:strVal val="visible"/>
                                      </p:to>
                                    </p:set>
                                    <p:animEffect transition="in" filter="fade">
                                      <p:cBhvr>
                                        <p:cTn id="28" dur="1000"/>
                                        <p:tgtEl>
                                          <p:spTgt spid="11267">
                                            <p:txEl>
                                              <p:pRg st="3" end="3"/>
                                            </p:txEl>
                                          </p:spTgt>
                                        </p:tgtEl>
                                      </p:cBhvr>
                                    </p:animEffect>
                                    <p:anim calcmode="lin" valueType="num">
                                      <p:cBhvr>
                                        <p:cTn id="29" dur="10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126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1239FCB-2262-0D3B-C931-04EAD04BFA77}"/>
            </a:ext>
          </a:extLst>
        </p:cNvPr>
        <p:cNvGrpSpPr/>
        <p:nvPr/>
      </p:nvGrpSpPr>
      <p:grpSpPr>
        <a:xfrm>
          <a:off x="0" y="0"/>
          <a:ext cx="0" cy="0"/>
          <a:chOff x="0" y="0"/>
          <a:chExt cx="0" cy="0"/>
        </a:xfrm>
      </p:grpSpPr>
      <p:sp>
        <p:nvSpPr>
          <p:cNvPr id="5122" name="Tiêu đề 1">
            <a:extLst>
              <a:ext uri="{FF2B5EF4-FFF2-40B4-BE49-F238E27FC236}">
                <a16:creationId xmlns:a16="http://schemas.microsoft.com/office/drawing/2014/main" xmlns="" id="{D07920EF-C58C-BABB-55C4-DA756B0F9491}"/>
              </a:ext>
            </a:extLst>
          </p:cNvPr>
          <p:cNvSpPr>
            <a:spLocks noGrp="1" noChangeArrowheads="1"/>
          </p:cNvSpPr>
          <p:nvPr>
            <p:ph type="title"/>
          </p:nvPr>
        </p:nvSpPr>
        <p:spPr>
          <a:xfrm>
            <a:off x="457200" y="274638"/>
            <a:ext cx="8229600" cy="457200"/>
          </a:xfrm>
        </p:spPr>
        <p:txBody>
          <a:bodyPr>
            <a:normAutofit fontScale="90000"/>
          </a:bodyPr>
          <a:lstStyle/>
          <a:p>
            <a:pPr algn="ctr"/>
            <a:r>
              <a:rPr lang="en-US" altLang="vi-VN" sz="3000" b="1" dirty="0"/>
              <a:t>2. </a:t>
            </a:r>
            <a:r>
              <a:rPr lang="en-US" altLang="vi-VN" sz="3000" b="1" dirty="0" err="1"/>
              <a:t>Chủ</a:t>
            </a:r>
            <a:r>
              <a:rPr lang="en-US" altLang="vi-VN" sz="3000" b="1" dirty="0"/>
              <a:t> </a:t>
            </a:r>
            <a:r>
              <a:rPr lang="en-US" altLang="vi-VN" sz="3000" b="1" dirty="0" err="1"/>
              <a:t>thể</a:t>
            </a:r>
            <a:r>
              <a:rPr lang="en-US" altLang="vi-VN" sz="3000" b="1" dirty="0"/>
              <a:t> </a:t>
            </a:r>
            <a:r>
              <a:rPr lang="en-US" altLang="vi-VN" sz="3000" b="1" dirty="0" err="1"/>
              <a:t>tham</a:t>
            </a:r>
            <a:r>
              <a:rPr lang="en-US" altLang="vi-VN" sz="3000" b="1" dirty="0"/>
              <a:t> </a:t>
            </a:r>
            <a:r>
              <a:rPr lang="en-US" altLang="vi-VN" sz="3000" b="1" dirty="0" err="1"/>
              <a:t>nhũng</a:t>
            </a:r>
            <a:endParaRPr lang="vi-VN" altLang="vi-VN" sz="3000" b="1" dirty="0"/>
          </a:p>
        </p:txBody>
      </p:sp>
      <p:sp>
        <p:nvSpPr>
          <p:cNvPr id="3" name="Chỗ dành sẵn cho Nội dung 2">
            <a:extLst>
              <a:ext uri="{FF2B5EF4-FFF2-40B4-BE49-F238E27FC236}">
                <a16:creationId xmlns:a16="http://schemas.microsoft.com/office/drawing/2014/main" xmlns="" id="{638ED5C4-5F27-D674-7A27-9D9F966969D5}"/>
              </a:ext>
            </a:extLst>
          </p:cNvPr>
          <p:cNvSpPr>
            <a:spLocks noGrp="1"/>
          </p:cNvSpPr>
          <p:nvPr>
            <p:ph idx="1"/>
          </p:nvPr>
        </p:nvSpPr>
        <p:spPr>
          <a:xfrm>
            <a:off x="457200" y="838200"/>
            <a:ext cx="8229600" cy="5745162"/>
          </a:xfrm>
        </p:spPr>
        <p:txBody>
          <a:bodyPr/>
          <a:lstStyle/>
          <a:p>
            <a:pPr algn="just">
              <a:spcBef>
                <a:spcPts val="600"/>
              </a:spcBef>
              <a:spcAft>
                <a:spcPts val="600"/>
              </a:spcAft>
              <a:defRPr/>
            </a:pPr>
            <a:r>
              <a:rPr lang="vi-VN" sz="2000" i="1"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Người có chức vụ, quyền hạn</a:t>
            </a:r>
            <a:r>
              <a:rPr lang="vi-VN" sz="200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 là người do bổ nhiệm, do bầu cử, do tuyển dụng, do hợp đồng hoặc do một hình thức khác, có hưởng lương hoặc không hưởng lương, được giao thực hiện nhiệm vụ, công vụ nhất định và có quyền hạn nhất định trong khi thực hiện nhiệm vụ, công vụ đó, bao gồm:</a:t>
            </a:r>
          </a:p>
          <a:p>
            <a:pPr marL="800100" lvl="2" indent="0">
              <a:spcBef>
                <a:spcPts val="600"/>
              </a:spcBef>
              <a:spcAft>
                <a:spcPts val="600"/>
              </a:spcAft>
              <a:buNone/>
              <a:defRPr/>
            </a:pPr>
            <a:r>
              <a:rPr lang="vi-VN" sz="140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a) Cán bộ, công chức, viên chức;</a:t>
            </a:r>
          </a:p>
          <a:p>
            <a:pPr marL="800100" lvl="2" indent="0">
              <a:spcBef>
                <a:spcPts val="600"/>
              </a:spcBef>
              <a:spcAft>
                <a:spcPts val="600"/>
              </a:spcAft>
              <a:buNone/>
              <a:defRPr/>
            </a:pPr>
            <a:r>
              <a:rPr lang="vi-VN" sz="140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b) Sĩ quan, quân nhân chuyên nghiệp, công nhân, viên chức quốc phòng trong cơ quan, đơn vị thuộc Quân đội nhân dân; sĩ quan, hạ sĩ quan nghiệp vụ, sĩ quan, hạ sĩ quan chuyên môn kỹ thuật, công nhân công an trong cơ quan, đơn vị thuộc Công an nhân dân;</a:t>
            </a:r>
          </a:p>
          <a:p>
            <a:pPr marL="800100" lvl="2" indent="0">
              <a:spcBef>
                <a:spcPts val="600"/>
              </a:spcBef>
              <a:spcAft>
                <a:spcPts val="600"/>
              </a:spcAft>
              <a:buNone/>
              <a:defRPr/>
            </a:pPr>
            <a:r>
              <a:rPr lang="vi-VN" sz="140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c) Người đại diện phần vốn nhà nước tại doanh nghiệp;</a:t>
            </a:r>
          </a:p>
          <a:p>
            <a:pPr marL="800100" lvl="2" indent="0">
              <a:spcBef>
                <a:spcPts val="600"/>
              </a:spcBef>
              <a:spcAft>
                <a:spcPts val="600"/>
              </a:spcAft>
              <a:buNone/>
              <a:defRPr/>
            </a:pPr>
            <a:r>
              <a:rPr lang="vi-VN" sz="140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d) Người giữ chức danh, chức vụ quản lý trong doanh nghiệp, tổ chức;</a:t>
            </a:r>
          </a:p>
          <a:p>
            <a:pPr marL="800100" lvl="2" indent="0">
              <a:spcBef>
                <a:spcPts val="600"/>
              </a:spcBef>
              <a:spcAft>
                <a:spcPts val="600"/>
              </a:spcAft>
              <a:buNone/>
              <a:defRPr/>
            </a:pPr>
            <a:r>
              <a:rPr lang="vi-VN" sz="140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đ) Những người khác được giao thực hiện nhiệm vụ, công vụ và có quyền hạn trong khi thực hiện nhiệm vụ, công vụ đó.</a:t>
            </a:r>
            <a:endParaRPr lang="en-US" sz="2200" i="1" dirty="0">
              <a:effectLst/>
              <a:latin typeface="Times New Roman" panose="02020603050405020304" pitchFamily="18" charset="0"/>
              <a:ea typeface="Tahoma" panose="020B0604030504040204" pitchFamily="34" charset="0"/>
              <a:cs typeface="Times New Roman" panose="02020603050405020304" pitchFamily="18" charset="0"/>
            </a:endParaRPr>
          </a:p>
          <a:p>
            <a:pPr>
              <a:defRPr/>
            </a:pPr>
            <a:endParaRPr lang="vi-VN" dirty="0"/>
          </a:p>
        </p:txBody>
      </p:sp>
    </p:spTree>
    <p:extLst>
      <p:ext uri="{BB962C8B-B14F-4D97-AF65-F5344CB8AC3E}">
        <p14:creationId xmlns:p14="http://schemas.microsoft.com/office/powerpoint/2010/main" xmlns="" val="73232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DD4B434C-4AD5-B1EF-CE99-D0B0F6F1D7ED}"/>
              </a:ext>
            </a:extLst>
          </p:cNvPr>
          <p:cNvSpPr>
            <a:spLocks noGrp="1"/>
          </p:cNvSpPr>
          <p:nvPr>
            <p:ph type="title"/>
          </p:nvPr>
        </p:nvSpPr>
        <p:spPr/>
        <p:txBody>
          <a:bodyPr/>
          <a:lstStyle/>
          <a:p>
            <a:pPr algn="ctr"/>
            <a:r>
              <a:rPr lang="en-US" dirty="0" err="1">
                <a:effectLst/>
              </a:rPr>
              <a:t>Chủ</a:t>
            </a:r>
            <a:r>
              <a:rPr lang="en-US" dirty="0">
                <a:effectLst/>
              </a:rPr>
              <a:t> </a:t>
            </a:r>
            <a:r>
              <a:rPr lang="en-US" dirty="0" err="1">
                <a:effectLst/>
              </a:rPr>
              <a:t>thể</a:t>
            </a:r>
            <a:r>
              <a:rPr lang="en-US" dirty="0">
                <a:effectLst/>
              </a:rPr>
              <a:t> </a:t>
            </a:r>
            <a:r>
              <a:rPr lang="en-US" dirty="0" err="1">
                <a:effectLst/>
              </a:rPr>
              <a:t>trong</a:t>
            </a:r>
            <a:r>
              <a:rPr lang="en-US" dirty="0">
                <a:effectLst/>
              </a:rPr>
              <a:t> </a:t>
            </a:r>
            <a:r>
              <a:rPr lang="en-US" dirty="0" err="1">
                <a:effectLst/>
              </a:rPr>
              <a:t>khu</a:t>
            </a:r>
            <a:r>
              <a:rPr lang="en-US" dirty="0">
                <a:effectLst/>
              </a:rPr>
              <a:t> </a:t>
            </a:r>
            <a:r>
              <a:rPr lang="en-US" dirty="0" err="1">
                <a:effectLst/>
              </a:rPr>
              <a:t>vực</a:t>
            </a:r>
            <a:r>
              <a:rPr lang="en-US" dirty="0">
                <a:effectLst/>
              </a:rPr>
              <a:t> </a:t>
            </a:r>
            <a:r>
              <a:rPr lang="en-US" dirty="0" err="1">
                <a:effectLst/>
              </a:rPr>
              <a:t>tư</a:t>
            </a:r>
            <a:r>
              <a:rPr lang="en-US" dirty="0">
                <a:effectLst/>
              </a:rPr>
              <a:t> </a:t>
            </a:r>
            <a:r>
              <a:rPr lang="en-US" dirty="0" err="1">
                <a:effectLst/>
              </a:rPr>
              <a:t>nhân</a:t>
            </a:r>
            <a:endParaRPr lang="vi-VN" dirty="0">
              <a:effectLst/>
            </a:endParaRPr>
          </a:p>
        </p:txBody>
      </p:sp>
      <p:sp>
        <p:nvSpPr>
          <p:cNvPr id="3" name="Chỗ dành sẵn cho Nội dung 2">
            <a:extLst>
              <a:ext uri="{FF2B5EF4-FFF2-40B4-BE49-F238E27FC236}">
                <a16:creationId xmlns:a16="http://schemas.microsoft.com/office/drawing/2014/main" xmlns="" id="{6ADFFAA0-21BC-BFF0-522D-3918F802832D}"/>
              </a:ext>
            </a:extLst>
          </p:cNvPr>
          <p:cNvSpPr>
            <a:spLocks noGrp="1"/>
          </p:cNvSpPr>
          <p:nvPr>
            <p:ph idx="1"/>
          </p:nvPr>
        </p:nvSpPr>
        <p:spPr/>
        <p:txBody>
          <a:bodyPr/>
          <a:lstStyle/>
          <a:p>
            <a:r>
              <a:rPr lang="en-US" sz="2400" dirty="0">
                <a:solidFill>
                  <a:srgbClr val="0033CC"/>
                </a:solidFill>
                <a:effectLst/>
                <a:latin typeface="Times New Roman" pitchFamily="18" charset="0"/>
                <a:cs typeface="Times New Roman" pitchFamily="18" charset="0"/>
              </a:rPr>
              <a:t>C</a:t>
            </a:r>
            <a:r>
              <a:rPr lang="vi-VN" sz="2400" dirty="0">
                <a:solidFill>
                  <a:srgbClr val="0033CC"/>
                </a:solidFill>
                <a:effectLst/>
                <a:latin typeface="Times New Roman" pitchFamily="18" charset="0"/>
                <a:cs typeface="Times New Roman" pitchFamily="18" charset="0"/>
              </a:rPr>
              <a:t>ác hành vi tham nhũng khu vực ngoài nhà nước do người có chức vụ, quyền hạn trong </a:t>
            </a:r>
            <a:r>
              <a:rPr lang="en-US" sz="2400" dirty="0">
                <a:solidFill>
                  <a:srgbClr val="0033CC"/>
                </a:solidFill>
                <a:effectLst/>
                <a:latin typeface="Times New Roman" pitchFamily="18" charset="0"/>
                <a:cs typeface="Times New Roman" pitchFamily="18" charset="0"/>
              </a:rPr>
              <a:t>DN</a:t>
            </a:r>
            <a:r>
              <a:rPr lang="vi-VN" sz="2400" dirty="0">
                <a:solidFill>
                  <a:srgbClr val="0033CC"/>
                </a:solidFill>
                <a:effectLst/>
                <a:latin typeface="Times New Roman" pitchFamily="18" charset="0"/>
                <a:cs typeface="Times New Roman" pitchFamily="18" charset="0"/>
              </a:rPr>
              <a:t>, tổ chức khu vực ngoài nhà nước thực hiện, bao gồm: </a:t>
            </a:r>
            <a:endParaRPr lang="en-US" sz="2400" dirty="0">
              <a:solidFill>
                <a:srgbClr val="0033CC"/>
              </a:solidFill>
              <a:effectLst/>
              <a:latin typeface="Times New Roman" pitchFamily="18" charset="0"/>
              <a:cs typeface="Times New Roman" pitchFamily="18" charset="0"/>
            </a:endParaRPr>
          </a:p>
          <a:p>
            <a:pPr marL="0" indent="0">
              <a:buNone/>
            </a:pPr>
            <a:r>
              <a:rPr lang="en-US" sz="2400" dirty="0">
                <a:solidFill>
                  <a:srgbClr val="0033CC"/>
                </a:solidFill>
                <a:effectLst/>
                <a:latin typeface="Times New Roman" pitchFamily="18" charset="0"/>
                <a:cs typeface="Times New Roman" pitchFamily="18" charset="0"/>
              </a:rPr>
              <a:t>	</a:t>
            </a:r>
            <a:r>
              <a:rPr lang="vi-VN" sz="2400" dirty="0">
                <a:solidFill>
                  <a:srgbClr val="0033CC"/>
                </a:solidFill>
                <a:effectLst/>
                <a:latin typeface="Times New Roman" pitchFamily="18" charset="0"/>
                <a:cs typeface="Times New Roman" pitchFamily="18" charset="0"/>
              </a:rPr>
              <a:t>(1) tham ô tài sản; </a:t>
            </a:r>
            <a:endParaRPr lang="en-US" sz="2400" dirty="0">
              <a:solidFill>
                <a:srgbClr val="0033CC"/>
              </a:solidFill>
              <a:effectLst/>
              <a:latin typeface="Times New Roman" pitchFamily="18" charset="0"/>
              <a:cs typeface="Times New Roman" pitchFamily="18" charset="0"/>
            </a:endParaRPr>
          </a:p>
          <a:p>
            <a:pPr marL="0" indent="0">
              <a:buNone/>
            </a:pPr>
            <a:r>
              <a:rPr lang="en-US" sz="2400" dirty="0">
                <a:solidFill>
                  <a:srgbClr val="0033CC"/>
                </a:solidFill>
                <a:effectLst/>
                <a:latin typeface="Times New Roman" pitchFamily="18" charset="0"/>
                <a:cs typeface="Times New Roman" pitchFamily="18" charset="0"/>
              </a:rPr>
              <a:t>	</a:t>
            </a:r>
            <a:r>
              <a:rPr lang="vi-VN" sz="2400" dirty="0">
                <a:solidFill>
                  <a:srgbClr val="0033CC"/>
                </a:solidFill>
                <a:effectLst/>
                <a:latin typeface="Times New Roman" pitchFamily="18" charset="0"/>
                <a:cs typeface="Times New Roman" pitchFamily="18" charset="0"/>
              </a:rPr>
              <a:t>(2) nhận hối lộ; </a:t>
            </a:r>
            <a:endParaRPr lang="en-US" sz="2400" dirty="0">
              <a:solidFill>
                <a:srgbClr val="0033CC"/>
              </a:solidFill>
              <a:effectLst/>
              <a:latin typeface="Times New Roman" pitchFamily="18" charset="0"/>
              <a:cs typeface="Times New Roman" pitchFamily="18" charset="0"/>
            </a:endParaRPr>
          </a:p>
          <a:p>
            <a:pPr marL="0" indent="0">
              <a:buNone/>
            </a:pPr>
            <a:r>
              <a:rPr lang="en-US" sz="2400" dirty="0">
                <a:solidFill>
                  <a:srgbClr val="0033CC"/>
                </a:solidFill>
                <a:effectLst/>
                <a:latin typeface="Times New Roman" pitchFamily="18" charset="0"/>
                <a:cs typeface="Times New Roman" pitchFamily="18" charset="0"/>
              </a:rPr>
              <a:t>	</a:t>
            </a:r>
            <a:r>
              <a:rPr lang="vi-VN" sz="2400" dirty="0">
                <a:solidFill>
                  <a:srgbClr val="0033CC"/>
                </a:solidFill>
                <a:effectLst/>
                <a:latin typeface="Times New Roman" pitchFamily="18" charset="0"/>
                <a:cs typeface="Times New Roman" pitchFamily="18" charset="0"/>
              </a:rPr>
              <a:t>(3) đưa hối lộ, môi giới hối lộ để giải quyết công việc của doanh nghiệp, tổ chức mình vì vụ lợi.</a:t>
            </a:r>
            <a:endParaRPr lang="vi-VN" dirty="0">
              <a:effectLst/>
            </a:endParaRPr>
          </a:p>
        </p:txBody>
      </p:sp>
      <p:sp>
        <p:nvSpPr>
          <p:cNvPr id="4" name="Chỗ dành sẵn cho Số hiệu Bản chiếu 3">
            <a:extLst>
              <a:ext uri="{FF2B5EF4-FFF2-40B4-BE49-F238E27FC236}">
                <a16:creationId xmlns:a16="http://schemas.microsoft.com/office/drawing/2014/main" xmlns="" id="{3229D7D6-9425-BAEF-D2DD-832CB004B3B8}"/>
              </a:ext>
            </a:extLst>
          </p:cNvPr>
          <p:cNvSpPr>
            <a:spLocks noGrp="1"/>
          </p:cNvSpPr>
          <p:nvPr>
            <p:ph type="sldNum" sz="quarter" idx="4"/>
          </p:nvPr>
        </p:nvSpPr>
        <p:spPr/>
        <p:txBody>
          <a:bodyPr/>
          <a:lstStyle/>
          <a:p>
            <a:fld id="{A70E8B96-6C17-404C-B209-86071FBA2009}" type="slidenum">
              <a:rPr lang="en-GB" smtClean="0"/>
              <a:pPr/>
              <a:t>6</a:t>
            </a:fld>
            <a:endParaRPr lang="en-GB"/>
          </a:p>
        </p:txBody>
      </p:sp>
      <p:sp>
        <p:nvSpPr>
          <p:cNvPr id="5" name="Chỗ dành sẵn cho Chân trang 4">
            <a:extLst>
              <a:ext uri="{FF2B5EF4-FFF2-40B4-BE49-F238E27FC236}">
                <a16:creationId xmlns:a16="http://schemas.microsoft.com/office/drawing/2014/main" xmlns="" id="{C4315A55-C09C-C955-B18A-053DD24904B9}"/>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xmlns="" val="520938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90F66B24-F0FB-30F6-340E-5D79119566EA}"/>
              </a:ext>
            </a:extLst>
          </p:cNvPr>
          <p:cNvSpPr>
            <a:spLocks noGrp="1"/>
          </p:cNvSpPr>
          <p:nvPr>
            <p:ph type="title"/>
          </p:nvPr>
        </p:nvSpPr>
        <p:spPr>
          <a:xfrm>
            <a:off x="251520" y="44624"/>
            <a:ext cx="8640960" cy="576064"/>
          </a:xfrm>
        </p:spPr>
        <p:txBody>
          <a:bodyPr/>
          <a:lstStyle/>
          <a:p>
            <a:pPr algn="ctr"/>
            <a:r>
              <a:rPr lang="en-US" dirty="0" err="1"/>
              <a:t>Cấu</a:t>
            </a:r>
            <a:r>
              <a:rPr lang="en-US" dirty="0"/>
              <a:t> </a:t>
            </a:r>
            <a:r>
              <a:rPr lang="en-US" dirty="0" err="1"/>
              <a:t>thành</a:t>
            </a:r>
            <a:r>
              <a:rPr lang="en-US" dirty="0"/>
              <a:t> VPPL </a:t>
            </a:r>
            <a:r>
              <a:rPr lang="en-US" dirty="0" err="1"/>
              <a:t>về</a:t>
            </a:r>
            <a:r>
              <a:rPr lang="en-US" dirty="0"/>
              <a:t> </a:t>
            </a:r>
            <a:r>
              <a:rPr lang="en-US" dirty="0" err="1"/>
              <a:t>tham</a:t>
            </a:r>
            <a:r>
              <a:rPr lang="en-US" dirty="0"/>
              <a:t> </a:t>
            </a:r>
            <a:r>
              <a:rPr lang="en-US" dirty="0" err="1"/>
              <a:t>nhũng</a:t>
            </a:r>
            <a:endParaRPr lang="vi-VN" dirty="0"/>
          </a:p>
        </p:txBody>
      </p:sp>
      <p:graphicFrame>
        <p:nvGraphicFramePr>
          <p:cNvPr id="6" name="Chỗ dành sẵn cho Nội dung 5">
            <a:extLst>
              <a:ext uri="{FF2B5EF4-FFF2-40B4-BE49-F238E27FC236}">
                <a16:creationId xmlns:a16="http://schemas.microsoft.com/office/drawing/2014/main" xmlns="" id="{0E0765D9-3D88-6FA2-68DB-89AACA79F3A5}"/>
              </a:ext>
            </a:extLst>
          </p:cNvPr>
          <p:cNvGraphicFramePr>
            <a:graphicFrameLocks noGrp="1"/>
          </p:cNvGraphicFramePr>
          <p:nvPr>
            <p:ph idx="1"/>
            <p:extLst>
              <p:ext uri="{D42A27DB-BD31-4B8C-83A1-F6EECF244321}">
                <p14:modId xmlns:p14="http://schemas.microsoft.com/office/powerpoint/2010/main" xmlns="" val="1761982951"/>
              </p:ext>
            </p:extLst>
          </p:nvPr>
        </p:nvGraphicFramePr>
        <p:xfrm>
          <a:off x="260548" y="692696"/>
          <a:ext cx="8640762" cy="5832648"/>
        </p:xfrm>
        <a:graphic>
          <a:graphicData uri="http://schemas.openxmlformats.org/drawingml/2006/table">
            <a:tbl>
              <a:tblPr firstRow="1" bandRow="1">
                <a:tableStyleId>{616DA210-FB5B-4158-B5E0-FEB733F419BA}</a:tableStyleId>
              </a:tblPr>
              <a:tblGrid>
                <a:gridCol w="2655466">
                  <a:extLst>
                    <a:ext uri="{9D8B030D-6E8A-4147-A177-3AD203B41FA5}">
                      <a16:colId xmlns:a16="http://schemas.microsoft.com/office/drawing/2014/main" xmlns="" val="1914170144"/>
                    </a:ext>
                  </a:extLst>
                </a:gridCol>
                <a:gridCol w="5985296">
                  <a:extLst>
                    <a:ext uri="{9D8B030D-6E8A-4147-A177-3AD203B41FA5}">
                      <a16:colId xmlns:a16="http://schemas.microsoft.com/office/drawing/2014/main" xmlns="" val="2426088125"/>
                    </a:ext>
                  </a:extLst>
                </a:gridCol>
              </a:tblGrid>
              <a:tr h="659337">
                <a:tc>
                  <a:txBody>
                    <a:bodyPr/>
                    <a:lstStyle/>
                    <a:p>
                      <a:pPr algn="ctr"/>
                      <a:r>
                        <a:rPr lang="en-US" sz="1800" dirty="0" err="1">
                          <a:solidFill>
                            <a:srgbClr val="7030A0"/>
                          </a:solidFill>
                        </a:rPr>
                        <a:t>Cấu</a:t>
                      </a:r>
                      <a:r>
                        <a:rPr lang="en-US" sz="1800" dirty="0">
                          <a:solidFill>
                            <a:srgbClr val="7030A0"/>
                          </a:solidFill>
                        </a:rPr>
                        <a:t> </a:t>
                      </a:r>
                      <a:r>
                        <a:rPr lang="en-US" sz="1800" dirty="0" err="1">
                          <a:solidFill>
                            <a:srgbClr val="7030A0"/>
                          </a:solidFill>
                        </a:rPr>
                        <a:t>thành</a:t>
                      </a:r>
                      <a:r>
                        <a:rPr lang="en-US" sz="1800" dirty="0">
                          <a:solidFill>
                            <a:srgbClr val="7030A0"/>
                          </a:solidFill>
                        </a:rPr>
                        <a:t> </a:t>
                      </a:r>
                      <a:r>
                        <a:rPr lang="en-US" sz="1800" dirty="0" err="1">
                          <a:solidFill>
                            <a:srgbClr val="7030A0"/>
                          </a:solidFill>
                        </a:rPr>
                        <a:t>tham</a:t>
                      </a:r>
                      <a:r>
                        <a:rPr lang="en-US" sz="1800" dirty="0">
                          <a:solidFill>
                            <a:srgbClr val="7030A0"/>
                          </a:solidFill>
                        </a:rPr>
                        <a:t> </a:t>
                      </a:r>
                      <a:r>
                        <a:rPr lang="en-US" sz="1800" dirty="0" err="1">
                          <a:solidFill>
                            <a:srgbClr val="7030A0"/>
                          </a:solidFill>
                        </a:rPr>
                        <a:t>nhũng</a:t>
                      </a:r>
                      <a:endParaRPr lang="vi-VN" sz="1800" dirty="0">
                        <a:solidFill>
                          <a:srgbClr val="7030A0"/>
                        </a:solidFill>
                      </a:endParaRPr>
                    </a:p>
                  </a:txBody>
                  <a:tcPr anchor="ctr"/>
                </a:tc>
                <a:tc>
                  <a:txBody>
                    <a:bodyPr/>
                    <a:lstStyle/>
                    <a:p>
                      <a:pPr algn="ctr"/>
                      <a:r>
                        <a:rPr lang="en-US" sz="1800" dirty="0">
                          <a:solidFill>
                            <a:srgbClr val="7030A0"/>
                          </a:solidFill>
                        </a:rPr>
                        <a:t>Các </a:t>
                      </a:r>
                      <a:r>
                        <a:rPr lang="en-US" sz="1800" dirty="0" err="1">
                          <a:solidFill>
                            <a:srgbClr val="7030A0"/>
                          </a:solidFill>
                        </a:rPr>
                        <a:t>yếu</a:t>
                      </a:r>
                      <a:r>
                        <a:rPr lang="en-US" sz="1800" dirty="0">
                          <a:solidFill>
                            <a:srgbClr val="7030A0"/>
                          </a:solidFill>
                        </a:rPr>
                        <a:t> </a:t>
                      </a:r>
                      <a:r>
                        <a:rPr lang="en-US" sz="1800" dirty="0" err="1">
                          <a:solidFill>
                            <a:srgbClr val="7030A0"/>
                          </a:solidFill>
                        </a:rPr>
                        <a:t>tố</a:t>
                      </a:r>
                      <a:endParaRPr lang="vi-VN" sz="1800" dirty="0">
                        <a:solidFill>
                          <a:srgbClr val="7030A0"/>
                        </a:solidFill>
                      </a:endParaRPr>
                    </a:p>
                  </a:txBody>
                  <a:tcPr anchor="ctr"/>
                </a:tc>
                <a:extLst>
                  <a:ext uri="{0D108BD9-81ED-4DB2-BD59-A6C34878D82A}">
                    <a16:rowId xmlns:a16="http://schemas.microsoft.com/office/drawing/2014/main" xmlns="" val="3748519385"/>
                  </a:ext>
                </a:extLst>
              </a:tr>
              <a:tr h="1992688">
                <a:tc>
                  <a:txBody>
                    <a:bodyPr/>
                    <a:lstStyle/>
                    <a:p>
                      <a:pPr algn="l">
                        <a:lnSpc>
                          <a:spcPct val="150000"/>
                        </a:lnSpc>
                      </a:pPr>
                      <a:r>
                        <a:rPr lang="en-US" sz="1600" b="1" dirty="0" err="1">
                          <a:solidFill>
                            <a:srgbClr val="7030A0"/>
                          </a:solidFill>
                        </a:rPr>
                        <a:t>Mặt</a:t>
                      </a:r>
                      <a:r>
                        <a:rPr lang="en-US" sz="1600" b="1" dirty="0">
                          <a:solidFill>
                            <a:srgbClr val="7030A0"/>
                          </a:solidFill>
                        </a:rPr>
                        <a:t> </a:t>
                      </a:r>
                      <a:r>
                        <a:rPr lang="en-US" sz="1600" b="1" dirty="0" err="1">
                          <a:solidFill>
                            <a:srgbClr val="7030A0"/>
                          </a:solidFill>
                        </a:rPr>
                        <a:t>khách</a:t>
                      </a:r>
                      <a:r>
                        <a:rPr lang="en-US" sz="1600" b="1" dirty="0">
                          <a:solidFill>
                            <a:srgbClr val="7030A0"/>
                          </a:solidFill>
                        </a:rPr>
                        <a:t> </a:t>
                      </a:r>
                      <a:r>
                        <a:rPr lang="en-US" sz="1600" b="1" dirty="0" err="1">
                          <a:solidFill>
                            <a:srgbClr val="7030A0"/>
                          </a:solidFill>
                        </a:rPr>
                        <a:t>quan</a:t>
                      </a:r>
                      <a:endParaRPr lang="vi-VN" sz="1600" b="1" dirty="0">
                        <a:solidFill>
                          <a:srgbClr val="7030A0"/>
                        </a:solidFill>
                        <a:latin typeface="Times       New Roman"/>
                      </a:endParaRPr>
                    </a:p>
                  </a:txBody>
                  <a:tcPr anchor="ctr"/>
                </a:tc>
                <a:tc>
                  <a:txBody>
                    <a:bodyPr/>
                    <a:lstStyle/>
                    <a:p>
                      <a:pPr marL="285750" indent="-285750" algn="l">
                        <a:lnSpc>
                          <a:spcPct val="150000"/>
                        </a:lnSpc>
                        <a:buFontTx/>
                        <a:buChar char="-"/>
                      </a:pPr>
                      <a:r>
                        <a:rPr lang="vi-VN" sz="1400" b="0" kern="1200" dirty="0">
                          <a:solidFill>
                            <a:srgbClr val="7030A0"/>
                          </a:solidFill>
                          <a:effectLst/>
                        </a:rPr>
                        <a:t>Hành vi trái pháp luật</a:t>
                      </a:r>
                      <a:r>
                        <a:rPr lang="en-US" sz="1400" b="0" kern="1200" dirty="0">
                          <a:solidFill>
                            <a:srgbClr val="7030A0"/>
                          </a:solidFill>
                          <a:effectLst/>
                        </a:rPr>
                        <a:t>: </a:t>
                      </a:r>
                      <a:r>
                        <a:rPr lang="vi-VN" sz="1400" b="0" kern="1200" dirty="0">
                          <a:solidFill>
                            <a:srgbClr val="7030A0"/>
                          </a:solidFill>
                          <a:effectLst/>
                        </a:rPr>
                        <a:t>là hành vi lợi dụng chức vụ, quyền hạn</a:t>
                      </a:r>
                      <a:r>
                        <a:rPr lang="en-US" sz="1400" b="0" kern="1200" dirty="0">
                          <a:solidFill>
                            <a:srgbClr val="7030A0"/>
                          </a:solidFill>
                          <a:effectLst/>
                        </a:rPr>
                        <a:t>.</a:t>
                      </a:r>
                    </a:p>
                    <a:p>
                      <a:pPr marL="285750" indent="-285750" algn="l">
                        <a:lnSpc>
                          <a:spcPct val="150000"/>
                        </a:lnSpc>
                        <a:buFontTx/>
                        <a:buChar char="-"/>
                      </a:pPr>
                      <a:r>
                        <a:rPr lang="en-US" sz="1400" b="0" kern="1200" dirty="0" err="1">
                          <a:solidFill>
                            <a:srgbClr val="7030A0"/>
                          </a:solidFill>
                          <a:effectLst/>
                        </a:rPr>
                        <a:t>Sự</a:t>
                      </a:r>
                      <a:r>
                        <a:rPr lang="en-US" sz="1400" b="0" kern="1200" dirty="0">
                          <a:solidFill>
                            <a:srgbClr val="7030A0"/>
                          </a:solidFill>
                          <a:effectLst/>
                        </a:rPr>
                        <a:t> </a:t>
                      </a:r>
                      <a:r>
                        <a:rPr lang="en-US" sz="1400" b="0" kern="1200" dirty="0" err="1">
                          <a:solidFill>
                            <a:srgbClr val="7030A0"/>
                          </a:solidFill>
                          <a:effectLst/>
                        </a:rPr>
                        <a:t>thiệt</a:t>
                      </a:r>
                      <a:r>
                        <a:rPr lang="en-US" sz="1400" b="0" kern="1200" dirty="0">
                          <a:solidFill>
                            <a:srgbClr val="7030A0"/>
                          </a:solidFill>
                          <a:effectLst/>
                        </a:rPr>
                        <a:t> </a:t>
                      </a:r>
                      <a:r>
                        <a:rPr lang="en-US" sz="1400" b="0" kern="1200" dirty="0" err="1">
                          <a:solidFill>
                            <a:srgbClr val="7030A0"/>
                          </a:solidFill>
                          <a:effectLst/>
                        </a:rPr>
                        <a:t>hại</a:t>
                      </a:r>
                      <a:r>
                        <a:rPr lang="en-US" sz="1400" b="0" kern="1200" dirty="0">
                          <a:solidFill>
                            <a:srgbClr val="7030A0"/>
                          </a:solidFill>
                          <a:effectLst/>
                        </a:rPr>
                        <a:t> </a:t>
                      </a:r>
                      <a:r>
                        <a:rPr lang="en-US" sz="1400" b="0" kern="1200" dirty="0" err="1">
                          <a:solidFill>
                            <a:srgbClr val="7030A0"/>
                          </a:solidFill>
                          <a:effectLst/>
                        </a:rPr>
                        <a:t>của</a:t>
                      </a:r>
                      <a:r>
                        <a:rPr lang="en-US" sz="1400" b="0" kern="1200" dirty="0">
                          <a:solidFill>
                            <a:srgbClr val="7030A0"/>
                          </a:solidFill>
                          <a:effectLst/>
                        </a:rPr>
                        <a:t> XH: </a:t>
                      </a:r>
                      <a:r>
                        <a:rPr lang="vi-VN" sz="1400" b="0" kern="1200" dirty="0">
                          <a:solidFill>
                            <a:srgbClr val="7030A0"/>
                          </a:solidFill>
                          <a:effectLst/>
                        </a:rPr>
                        <a:t>gây tổn hại đến lợi ích của Nhà nước, Nhân dân, cá nhân, tổ chức trong xã hội</a:t>
                      </a:r>
                      <a:endParaRPr lang="en-US" sz="1400" b="0" kern="1200" dirty="0">
                        <a:solidFill>
                          <a:srgbClr val="7030A0"/>
                        </a:solidFill>
                        <a:effectLst/>
                      </a:endParaRPr>
                    </a:p>
                    <a:p>
                      <a:pPr marL="285750" indent="-285750" algn="l">
                        <a:lnSpc>
                          <a:spcPct val="150000"/>
                        </a:lnSpc>
                        <a:buFontTx/>
                        <a:buChar char="-"/>
                      </a:pPr>
                      <a:r>
                        <a:rPr lang="en-US" sz="1400" b="0" kern="1200" dirty="0" err="1">
                          <a:solidFill>
                            <a:srgbClr val="7030A0"/>
                          </a:solidFill>
                          <a:effectLst/>
                        </a:rPr>
                        <a:t>Mqh</a:t>
                      </a:r>
                      <a:r>
                        <a:rPr lang="en-US" sz="1400" b="0" kern="1200" dirty="0">
                          <a:solidFill>
                            <a:srgbClr val="7030A0"/>
                          </a:solidFill>
                          <a:effectLst/>
                        </a:rPr>
                        <a:t> </a:t>
                      </a:r>
                      <a:r>
                        <a:rPr lang="en-US" sz="1400" b="0" kern="1200" dirty="0" err="1">
                          <a:solidFill>
                            <a:srgbClr val="7030A0"/>
                          </a:solidFill>
                          <a:effectLst/>
                        </a:rPr>
                        <a:t>nhân</a:t>
                      </a:r>
                      <a:r>
                        <a:rPr lang="en-US" sz="1400" b="0" kern="1200" dirty="0">
                          <a:solidFill>
                            <a:srgbClr val="7030A0"/>
                          </a:solidFill>
                          <a:effectLst/>
                        </a:rPr>
                        <a:t> </a:t>
                      </a:r>
                      <a:r>
                        <a:rPr lang="en-US" sz="1400" b="0" kern="1200" dirty="0" err="1">
                          <a:solidFill>
                            <a:srgbClr val="7030A0"/>
                          </a:solidFill>
                          <a:effectLst/>
                        </a:rPr>
                        <a:t>quả</a:t>
                      </a:r>
                      <a:r>
                        <a:rPr lang="en-US" sz="1400" b="0" kern="1200" dirty="0">
                          <a:solidFill>
                            <a:srgbClr val="7030A0"/>
                          </a:solidFill>
                          <a:effectLst/>
                        </a:rPr>
                        <a:t>: </a:t>
                      </a:r>
                      <a:r>
                        <a:rPr lang="en-US" sz="1400" b="0" kern="1200" dirty="0" err="1">
                          <a:solidFill>
                            <a:srgbClr val="7030A0"/>
                          </a:solidFill>
                          <a:effectLst/>
                        </a:rPr>
                        <a:t>Hành</a:t>
                      </a:r>
                      <a:r>
                        <a:rPr lang="en-US" sz="1400" b="0" kern="1200" dirty="0">
                          <a:solidFill>
                            <a:srgbClr val="7030A0"/>
                          </a:solidFill>
                          <a:effectLst/>
                        </a:rPr>
                        <a:t> vi </a:t>
                      </a:r>
                      <a:r>
                        <a:rPr lang="en-US" sz="1400" b="0" kern="1200" dirty="0" err="1">
                          <a:solidFill>
                            <a:srgbClr val="7030A0"/>
                          </a:solidFill>
                          <a:effectLst/>
                        </a:rPr>
                        <a:t>lợi</a:t>
                      </a:r>
                      <a:r>
                        <a:rPr lang="en-US" sz="1400" b="0" kern="1200" dirty="0">
                          <a:solidFill>
                            <a:srgbClr val="7030A0"/>
                          </a:solidFill>
                          <a:effectLst/>
                        </a:rPr>
                        <a:t> </a:t>
                      </a:r>
                      <a:r>
                        <a:rPr lang="en-US" sz="1400" b="0" kern="1200" dirty="0" err="1">
                          <a:solidFill>
                            <a:srgbClr val="7030A0"/>
                          </a:solidFill>
                          <a:effectLst/>
                        </a:rPr>
                        <a:t>dụng</a:t>
                      </a:r>
                      <a:r>
                        <a:rPr lang="en-US" sz="1400" b="0" kern="1200" dirty="0">
                          <a:solidFill>
                            <a:srgbClr val="7030A0"/>
                          </a:solidFill>
                          <a:effectLst/>
                        </a:rPr>
                        <a:t> </a:t>
                      </a:r>
                      <a:r>
                        <a:rPr lang="en-US" sz="1400" b="0" kern="1200" dirty="0" err="1">
                          <a:solidFill>
                            <a:srgbClr val="7030A0"/>
                          </a:solidFill>
                          <a:effectLst/>
                        </a:rPr>
                        <a:t>chức</a:t>
                      </a:r>
                      <a:r>
                        <a:rPr lang="en-US" sz="1400" b="0" kern="1200" dirty="0">
                          <a:solidFill>
                            <a:srgbClr val="7030A0"/>
                          </a:solidFill>
                          <a:effectLst/>
                        </a:rPr>
                        <a:t> </a:t>
                      </a:r>
                      <a:r>
                        <a:rPr lang="en-US" sz="1400" b="0" kern="1200" dirty="0" err="1">
                          <a:solidFill>
                            <a:srgbClr val="7030A0"/>
                          </a:solidFill>
                          <a:effectLst/>
                        </a:rPr>
                        <a:t>vụ</a:t>
                      </a:r>
                      <a:r>
                        <a:rPr lang="en-US" sz="1400" b="0" kern="1200" dirty="0">
                          <a:solidFill>
                            <a:srgbClr val="7030A0"/>
                          </a:solidFill>
                          <a:effectLst/>
                        </a:rPr>
                        <a:t> </a:t>
                      </a:r>
                      <a:r>
                        <a:rPr lang="en-US" sz="1400" b="0" kern="1200" dirty="0" err="1">
                          <a:solidFill>
                            <a:srgbClr val="7030A0"/>
                          </a:solidFill>
                          <a:effectLst/>
                        </a:rPr>
                        <a:t>quyền</a:t>
                      </a:r>
                      <a:r>
                        <a:rPr lang="en-US" sz="1400" b="0" kern="1200" dirty="0">
                          <a:solidFill>
                            <a:srgbClr val="7030A0"/>
                          </a:solidFill>
                          <a:effectLst/>
                        </a:rPr>
                        <a:t> </a:t>
                      </a:r>
                      <a:r>
                        <a:rPr lang="en-US" sz="1400" b="0" kern="1200" dirty="0" err="1">
                          <a:solidFill>
                            <a:srgbClr val="7030A0"/>
                          </a:solidFill>
                          <a:effectLst/>
                        </a:rPr>
                        <a:t>hạn</a:t>
                      </a:r>
                      <a:r>
                        <a:rPr lang="en-US" sz="1400" b="0" kern="1200" dirty="0">
                          <a:solidFill>
                            <a:srgbClr val="7030A0"/>
                          </a:solidFill>
                          <a:effectLst/>
                        </a:rPr>
                        <a:t> </a:t>
                      </a:r>
                      <a:r>
                        <a:rPr lang="en-US" sz="1400" b="0" kern="1200" dirty="0" err="1">
                          <a:solidFill>
                            <a:srgbClr val="7030A0"/>
                          </a:solidFill>
                          <a:effectLst/>
                        </a:rPr>
                        <a:t>là</a:t>
                      </a:r>
                      <a:r>
                        <a:rPr lang="en-US" sz="1400" b="0" kern="1200" dirty="0">
                          <a:solidFill>
                            <a:srgbClr val="7030A0"/>
                          </a:solidFill>
                          <a:effectLst/>
                        </a:rPr>
                        <a:t> </a:t>
                      </a:r>
                      <a:r>
                        <a:rPr lang="en-US" sz="1400" b="0" kern="1200" dirty="0" err="1">
                          <a:solidFill>
                            <a:srgbClr val="7030A0"/>
                          </a:solidFill>
                          <a:effectLst/>
                        </a:rPr>
                        <a:t>nguyên</a:t>
                      </a:r>
                      <a:r>
                        <a:rPr lang="en-US" sz="1400" b="0" kern="1200" dirty="0">
                          <a:solidFill>
                            <a:srgbClr val="7030A0"/>
                          </a:solidFill>
                          <a:effectLst/>
                        </a:rPr>
                        <a:t> </a:t>
                      </a:r>
                      <a:r>
                        <a:rPr lang="en-US" sz="1400" b="0" kern="1200" dirty="0" err="1">
                          <a:solidFill>
                            <a:srgbClr val="7030A0"/>
                          </a:solidFill>
                          <a:effectLst/>
                        </a:rPr>
                        <a:t>nhân</a:t>
                      </a:r>
                      <a:r>
                        <a:rPr lang="en-US" sz="1400" b="0" kern="1200" dirty="0">
                          <a:solidFill>
                            <a:srgbClr val="7030A0"/>
                          </a:solidFill>
                          <a:effectLst/>
                        </a:rPr>
                        <a:t> </a:t>
                      </a:r>
                      <a:r>
                        <a:rPr lang="en-US" sz="1400" b="0" kern="1200" dirty="0" err="1">
                          <a:solidFill>
                            <a:srgbClr val="7030A0"/>
                          </a:solidFill>
                          <a:effectLst/>
                        </a:rPr>
                        <a:t>trực</a:t>
                      </a:r>
                      <a:r>
                        <a:rPr lang="en-US" sz="1400" b="0" kern="1200" dirty="0">
                          <a:solidFill>
                            <a:srgbClr val="7030A0"/>
                          </a:solidFill>
                          <a:effectLst/>
                        </a:rPr>
                        <a:t> </a:t>
                      </a:r>
                      <a:r>
                        <a:rPr lang="en-US" sz="1400" b="0" kern="1200" dirty="0" err="1">
                          <a:solidFill>
                            <a:srgbClr val="7030A0"/>
                          </a:solidFill>
                          <a:effectLst/>
                        </a:rPr>
                        <a:t>tiếp</a:t>
                      </a:r>
                      <a:r>
                        <a:rPr lang="en-US" sz="1400" b="0" kern="1200" dirty="0">
                          <a:solidFill>
                            <a:srgbClr val="7030A0"/>
                          </a:solidFill>
                          <a:effectLst/>
                        </a:rPr>
                        <a:t> </a:t>
                      </a:r>
                      <a:r>
                        <a:rPr lang="en-US" sz="1400" b="0" kern="1200" dirty="0" err="1">
                          <a:solidFill>
                            <a:srgbClr val="7030A0"/>
                          </a:solidFill>
                          <a:effectLst/>
                        </a:rPr>
                        <a:t>dẫn</a:t>
                      </a:r>
                      <a:r>
                        <a:rPr lang="en-US" sz="1400" b="0" kern="1200" dirty="0">
                          <a:solidFill>
                            <a:srgbClr val="7030A0"/>
                          </a:solidFill>
                          <a:effectLst/>
                        </a:rPr>
                        <a:t> </a:t>
                      </a:r>
                      <a:r>
                        <a:rPr lang="en-US" sz="1400" b="0" kern="1200" dirty="0" err="1">
                          <a:solidFill>
                            <a:srgbClr val="7030A0"/>
                          </a:solidFill>
                          <a:effectLst/>
                        </a:rPr>
                        <a:t>đến</a:t>
                      </a:r>
                      <a:r>
                        <a:rPr lang="en-US" sz="1400" b="0" kern="1200" dirty="0">
                          <a:solidFill>
                            <a:srgbClr val="7030A0"/>
                          </a:solidFill>
                          <a:effectLst/>
                        </a:rPr>
                        <a:t> </a:t>
                      </a:r>
                      <a:r>
                        <a:rPr lang="en-US" sz="1400" b="0" kern="1200" dirty="0" err="1">
                          <a:solidFill>
                            <a:srgbClr val="7030A0"/>
                          </a:solidFill>
                          <a:effectLst/>
                        </a:rPr>
                        <a:t>tổn</a:t>
                      </a:r>
                      <a:r>
                        <a:rPr lang="en-US" sz="1400" b="0" kern="1200" dirty="0">
                          <a:solidFill>
                            <a:srgbClr val="7030A0"/>
                          </a:solidFill>
                          <a:effectLst/>
                        </a:rPr>
                        <a:t> </a:t>
                      </a:r>
                      <a:r>
                        <a:rPr lang="en-US" sz="1400" b="0" kern="1200" dirty="0" err="1">
                          <a:solidFill>
                            <a:srgbClr val="7030A0"/>
                          </a:solidFill>
                          <a:effectLst/>
                        </a:rPr>
                        <a:t>hại</a:t>
                      </a:r>
                      <a:r>
                        <a:rPr lang="en-US" sz="1400" b="0" kern="1200" dirty="0">
                          <a:solidFill>
                            <a:srgbClr val="7030A0"/>
                          </a:solidFill>
                          <a:effectLst/>
                        </a:rPr>
                        <a:t> </a:t>
                      </a:r>
                      <a:r>
                        <a:rPr lang="en-US" sz="1400" b="0" kern="1200" dirty="0" err="1">
                          <a:solidFill>
                            <a:srgbClr val="7030A0"/>
                          </a:solidFill>
                          <a:effectLst/>
                        </a:rPr>
                        <a:t>đến</a:t>
                      </a:r>
                      <a:r>
                        <a:rPr lang="en-US" sz="1400" b="0" kern="1200" dirty="0">
                          <a:solidFill>
                            <a:srgbClr val="7030A0"/>
                          </a:solidFill>
                          <a:effectLst/>
                        </a:rPr>
                        <a:t> </a:t>
                      </a:r>
                      <a:r>
                        <a:rPr lang="en-US" sz="1400" b="0" kern="1200" dirty="0" err="1">
                          <a:solidFill>
                            <a:srgbClr val="7030A0"/>
                          </a:solidFill>
                          <a:effectLst/>
                        </a:rPr>
                        <a:t>lợi</a:t>
                      </a:r>
                      <a:r>
                        <a:rPr lang="en-US" sz="1400" b="0" kern="1200" dirty="0">
                          <a:solidFill>
                            <a:srgbClr val="7030A0"/>
                          </a:solidFill>
                          <a:effectLst/>
                        </a:rPr>
                        <a:t> </a:t>
                      </a:r>
                      <a:r>
                        <a:rPr lang="en-US" sz="1400" b="0" kern="1200" dirty="0" err="1">
                          <a:solidFill>
                            <a:srgbClr val="7030A0"/>
                          </a:solidFill>
                          <a:effectLst/>
                        </a:rPr>
                        <a:t>ích</a:t>
                      </a:r>
                      <a:r>
                        <a:rPr lang="en-US" sz="1400" b="0" kern="1200" dirty="0">
                          <a:solidFill>
                            <a:srgbClr val="7030A0"/>
                          </a:solidFill>
                          <a:effectLst/>
                        </a:rPr>
                        <a:t> </a:t>
                      </a:r>
                      <a:r>
                        <a:rPr lang="en-US" sz="1400" b="0" kern="1200" dirty="0" err="1">
                          <a:solidFill>
                            <a:srgbClr val="7030A0"/>
                          </a:solidFill>
                          <a:effectLst/>
                        </a:rPr>
                        <a:t>của</a:t>
                      </a:r>
                      <a:r>
                        <a:rPr lang="en-US" sz="1400" b="0" kern="1200" dirty="0">
                          <a:solidFill>
                            <a:srgbClr val="7030A0"/>
                          </a:solidFill>
                          <a:effectLst/>
                        </a:rPr>
                        <a:t> </a:t>
                      </a:r>
                      <a:r>
                        <a:rPr lang="en-US" sz="1400" b="0" kern="1200" dirty="0" err="1">
                          <a:solidFill>
                            <a:srgbClr val="7030A0"/>
                          </a:solidFill>
                          <a:effectLst/>
                        </a:rPr>
                        <a:t>các</a:t>
                      </a:r>
                      <a:r>
                        <a:rPr lang="en-US" sz="1400" b="0" kern="1200" dirty="0">
                          <a:solidFill>
                            <a:srgbClr val="7030A0"/>
                          </a:solidFill>
                          <a:effectLst/>
                        </a:rPr>
                        <a:t> </a:t>
                      </a:r>
                      <a:r>
                        <a:rPr lang="en-US" sz="1400" b="0" kern="1200" dirty="0" err="1">
                          <a:solidFill>
                            <a:srgbClr val="7030A0"/>
                          </a:solidFill>
                          <a:effectLst/>
                        </a:rPr>
                        <a:t>chủ</a:t>
                      </a:r>
                      <a:r>
                        <a:rPr lang="en-US" sz="1400" b="0" kern="1200" dirty="0">
                          <a:solidFill>
                            <a:srgbClr val="7030A0"/>
                          </a:solidFill>
                          <a:effectLst/>
                        </a:rPr>
                        <a:t> </a:t>
                      </a:r>
                      <a:r>
                        <a:rPr lang="en-US" sz="1400" b="0" kern="1200" dirty="0" err="1">
                          <a:solidFill>
                            <a:srgbClr val="7030A0"/>
                          </a:solidFill>
                          <a:effectLst/>
                        </a:rPr>
                        <a:t>thể</a:t>
                      </a:r>
                      <a:r>
                        <a:rPr lang="en-US" sz="1400" b="0" kern="1200" dirty="0">
                          <a:solidFill>
                            <a:srgbClr val="7030A0"/>
                          </a:solidFill>
                          <a:effectLst/>
                        </a:rPr>
                        <a:t>.</a:t>
                      </a:r>
                    </a:p>
                    <a:p>
                      <a:pPr marL="0" indent="0" algn="l">
                        <a:lnSpc>
                          <a:spcPct val="150000"/>
                        </a:lnSpc>
                        <a:buFontTx/>
                        <a:buNone/>
                      </a:pPr>
                      <a:endParaRPr lang="vi-VN" sz="1400" dirty="0">
                        <a:solidFill>
                          <a:srgbClr val="7030A0"/>
                        </a:solidFill>
                        <a:latin typeface="Times       New Roman"/>
                      </a:endParaRPr>
                    </a:p>
                  </a:txBody>
                  <a:tcPr anchor="ctr"/>
                </a:tc>
                <a:extLst>
                  <a:ext uri="{0D108BD9-81ED-4DB2-BD59-A6C34878D82A}">
                    <a16:rowId xmlns:a16="http://schemas.microsoft.com/office/drawing/2014/main" xmlns="" val="2689663936"/>
                  </a:ext>
                </a:extLst>
              </a:tr>
              <a:tr h="1626665">
                <a:tc>
                  <a:txBody>
                    <a:bodyPr/>
                    <a:lstStyle/>
                    <a:p>
                      <a:pPr algn="l">
                        <a:lnSpc>
                          <a:spcPct val="150000"/>
                        </a:lnSpc>
                      </a:pPr>
                      <a:r>
                        <a:rPr lang="en-US" sz="1600" b="1" dirty="0" err="1">
                          <a:solidFill>
                            <a:srgbClr val="7030A0"/>
                          </a:solidFill>
                        </a:rPr>
                        <a:t>Mặt</a:t>
                      </a:r>
                      <a:r>
                        <a:rPr lang="en-US" sz="1600" b="1" dirty="0">
                          <a:solidFill>
                            <a:srgbClr val="7030A0"/>
                          </a:solidFill>
                        </a:rPr>
                        <a:t> </a:t>
                      </a:r>
                      <a:r>
                        <a:rPr lang="en-US" sz="1600" b="1" dirty="0" err="1">
                          <a:solidFill>
                            <a:srgbClr val="7030A0"/>
                          </a:solidFill>
                        </a:rPr>
                        <a:t>chủ</a:t>
                      </a:r>
                      <a:r>
                        <a:rPr lang="en-US" sz="1600" b="1" dirty="0">
                          <a:solidFill>
                            <a:srgbClr val="7030A0"/>
                          </a:solidFill>
                        </a:rPr>
                        <a:t> </a:t>
                      </a:r>
                      <a:r>
                        <a:rPr lang="en-US" sz="1600" b="1" dirty="0" err="1">
                          <a:solidFill>
                            <a:srgbClr val="7030A0"/>
                          </a:solidFill>
                        </a:rPr>
                        <a:t>quan</a:t>
                      </a:r>
                      <a:endParaRPr lang="vi-VN" sz="1600" b="1" dirty="0">
                        <a:solidFill>
                          <a:srgbClr val="7030A0"/>
                        </a:solidFill>
                        <a:latin typeface="Times       New Roman"/>
                      </a:endParaRPr>
                    </a:p>
                  </a:txBody>
                  <a:tcPr anchor="ctr"/>
                </a:tc>
                <a:tc>
                  <a:txBody>
                    <a:bodyPr/>
                    <a:lstStyle/>
                    <a:p>
                      <a:pPr marL="285750" indent="-285750" algn="l">
                        <a:lnSpc>
                          <a:spcPct val="150000"/>
                        </a:lnSpc>
                        <a:buFontTx/>
                        <a:buChar char="-"/>
                      </a:pPr>
                      <a:r>
                        <a:rPr lang="en-US" sz="1400" dirty="0" err="1">
                          <a:solidFill>
                            <a:srgbClr val="7030A0"/>
                          </a:solidFill>
                        </a:rPr>
                        <a:t>Lỗi</a:t>
                      </a:r>
                      <a:r>
                        <a:rPr lang="en-US" sz="1400" dirty="0">
                          <a:solidFill>
                            <a:srgbClr val="7030A0"/>
                          </a:solidFill>
                        </a:rPr>
                        <a:t>: </a:t>
                      </a:r>
                      <a:r>
                        <a:rPr lang="en-US" sz="1400" b="0" kern="1200" dirty="0">
                          <a:solidFill>
                            <a:srgbClr val="7030A0"/>
                          </a:solidFill>
                          <a:effectLst/>
                        </a:rPr>
                        <a:t>L</a:t>
                      </a:r>
                      <a:r>
                        <a:rPr lang="vi-VN" sz="1400" b="0" kern="1200" dirty="0" err="1">
                          <a:solidFill>
                            <a:srgbClr val="7030A0"/>
                          </a:solidFill>
                          <a:effectLst/>
                        </a:rPr>
                        <a:t>ỗi</a:t>
                      </a:r>
                      <a:r>
                        <a:rPr lang="vi-VN" sz="1400" b="0" kern="1200" dirty="0">
                          <a:solidFill>
                            <a:srgbClr val="7030A0"/>
                          </a:solidFill>
                          <a:effectLst/>
                        </a:rPr>
                        <a:t> cố ý (có thể là cố ý trực tiếp hoặc cố ý gián tiếp)</a:t>
                      </a:r>
                      <a:r>
                        <a:rPr lang="en-US" sz="1400" b="0" kern="1200" dirty="0">
                          <a:solidFill>
                            <a:srgbClr val="7030A0"/>
                          </a:solidFill>
                          <a:effectLst/>
                        </a:rPr>
                        <a:t>.</a:t>
                      </a:r>
                    </a:p>
                    <a:p>
                      <a:pPr marL="285750" indent="-285750" algn="l">
                        <a:lnSpc>
                          <a:spcPct val="150000"/>
                        </a:lnSpc>
                        <a:buFontTx/>
                        <a:buChar char="-"/>
                      </a:pPr>
                      <a:r>
                        <a:rPr lang="en-US" sz="1400" b="0" kern="1200" dirty="0" err="1">
                          <a:solidFill>
                            <a:srgbClr val="7030A0"/>
                          </a:solidFill>
                          <a:effectLst/>
                        </a:rPr>
                        <a:t>Động</a:t>
                      </a:r>
                      <a:r>
                        <a:rPr lang="en-US" sz="1400" b="0" kern="1200" dirty="0">
                          <a:solidFill>
                            <a:srgbClr val="7030A0"/>
                          </a:solidFill>
                          <a:effectLst/>
                        </a:rPr>
                        <a:t> </a:t>
                      </a:r>
                      <a:r>
                        <a:rPr lang="en-US" sz="1400" b="0" kern="1200" dirty="0" err="1">
                          <a:solidFill>
                            <a:srgbClr val="7030A0"/>
                          </a:solidFill>
                          <a:effectLst/>
                        </a:rPr>
                        <a:t>cơ</a:t>
                      </a:r>
                      <a:r>
                        <a:rPr lang="en-US" sz="1400" b="0" kern="1200" dirty="0">
                          <a:solidFill>
                            <a:srgbClr val="7030A0"/>
                          </a:solidFill>
                          <a:effectLst/>
                        </a:rPr>
                        <a:t>: </a:t>
                      </a:r>
                      <a:r>
                        <a:rPr lang="vi-VN" sz="1400" b="0" kern="1200" dirty="0">
                          <a:solidFill>
                            <a:srgbClr val="7030A0"/>
                          </a:solidFill>
                          <a:effectLst/>
                        </a:rPr>
                        <a:t>vụ lợi</a:t>
                      </a:r>
                      <a:r>
                        <a:rPr lang="en-US" sz="1400" b="0" kern="1200" dirty="0">
                          <a:solidFill>
                            <a:srgbClr val="7030A0"/>
                          </a:solidFill>
                          <a:effectLst/>
                        </a:rPr>
                        <a:t> </a:t>
                      </a:r>
                      <a:r>
                        <a:rPr lang="en-US" sz="1400" b="0" kern="1200" dirty="0" err="1">
                          <a:solidFill>
                            <a:srgbClr val="7030A0"/>
                          </a:solidFill>
                          <a:effectLst/>
                        </a:rPr>
                        <a:t>cá</a:t>
                      </a:r>
                      <a:r>
                        <a:rPr lang="en-US" sz="1400" b="0" kern="1200" dirty="0">
                          <a:solidFill>
                            <a:srgbClr val="7030A0"/>
                          </a:solidFill>
                          <a:effectLst/>
                        </a:rPr>
                        <a:t> </a:t>
                      </a:r>
                      <a:r>
                        <a:rPr lang="en-US" sz="1400" b="0" kern="1200" dirty="0" err="1">
                          <a:solidFill>
                            <a:srgbClr val="7030A0"/>
                          </a:solidFill>
                          <a:effectLst/>
                        </a:rPr>
                        <a:t>nhân</a:t>
                      </a:r>
                      <a:endParaRPr lang="en-US" sz="1400" b="0" kern="1200" dirty="0">
                        <a:solidFill>
                          <a:srgbClr val="7030A0"/>
                        </a:solidFill>
                        <a:effectLst/>
                      </a:endParaRPr>
                    </a:p>
                    <a:p>
                      <a:pPr marL="285750" indent="-285750" algn="l">
                        <a:lnSpc>
                          <a:spcPct val="150000"/>
                        </a:lnSpc>
                        <a:buFontTx/>
                        <a:buChar char="-"/>
                      </a:pPr>
                      <a:r>
                        <a:rPr lang="en-US" sz="1400" b="0" kern="1200" dirty="0" err="1">
                          <a:solidFill>
                            <a:srgbClr val="7030A0"/>
                          </a:solidFill>
                          <a:effectLst/>
                        </a:rPr>
                        <a:t>Mục</a:t>
                      </a:r>
                      <a:r>
                        <a:rPr lang="en-US" sz="1400" b="0" kern="1200" dirty="0">
                          <a:solidFill>
                            <a:srgbClr val="7030A0"/>
                          </a:solidFill>
                          <a:effectLst/>
                        </a:rPr>
                        <a:t> </a:t>
                      </a:r>
                      <a:r>
                        <a:rPr lang="en-US" sz="1400" b="0" kern="1200" dirty="0" err="1">
                          <a:solidFill>
                            <a:srgbClr val="7030A0"/>
                          </a:solidFill>
                          <a:effectLst/>
                        </a:rPr>
                        <a:t>đích</a:t>
                      </a:r>
                      <a:r>
                        <a:rPr lang="en-US" sz="1400" b="0" kern="1200" dirty="0">
                          <a:solidFill>
                            <a:srgbClr val="7030A0"/>
                          </a:solidFill>
                          <a:effectLst/>
                        </a:rPr>
                        <a:t>: Lợi </a:t>
                      </a:r>
                      <a:r>
                        <a:rPr lang="en-US" sz="1400" b="0" kern="1200" dirty="0" err="1">
                          <a:solidFill>
                            <a:srgbClr val="7030A0"/>
                          </a:solidFill>
                          <a:effectLst/>
                        </a:rPr>
                        <a:t>ích</a:t>
                      </a:r>
                      <a:r>
                        <a:rPr lang="en-US" sz="1400" b="0" kern="1200" dirty="0">
                          <a:solidFill>
                            <a:srgbClr val="7030A0"/>
                          </a:solidFill>
                          <a:effectLst/>
                        </a:rPr>
                        <a:t> </a:t>
                      </a:r>
                      <a:r>
                        <a:rPr lang="en-US" sz="1400" b="0" kern="1200" dirty="0" err="1">
                          <a:solidFill>
                            <a:srgbClr val="7030A0"/>
                          </a:solidFill>
                          <a:effectLst/>
                        </a:rPr>
                        <a:t>vật</a:t>
                      </a:r>
                      <a:r>
                        <a:rPr lang="en-US" sz="1400" b="0" kern="1200" dirty="0">
                          <a:solidFill>
                            <a:srgbClr val="7030A0"/>
                          </a:solidFill>
                          <a:effectLst/>
                        </a:rPr>
                        <a:t> </a:t>
                      </a:r>
                      <a:r>
                        <a:rPr lang="en-US" sz="1400" b="0" kern="1200" dirty="0" err="1">
                          <a:solidFill>
                            <a:srgbClr val="7030A0"/>
                          </a:solidFill>
                          <a:effectLst/>
                        </a:rPr>
                        <a:t>chất</a:t>
                      </a:r>
                      <a:r>
                        <a:rPr lang="en-US" sz="1400" b="0" kern="1200" dirty="0">
                          <a:solidFill>
                            <a:srgbClr val="7030A0"/>
                          </a:solidFill>
                          <a:effectLst/>
                        </a:rPr>
                        <a:t> </a:t>
                      </a:r>
                      <a:r>
                        <a:rPr lang="en-US" sz="1400" b="0" kern="1200" dirty="0" err="1">
                          <a:solidFill>
                            <a:srgbClr val="7030A0"/>
                          </a:solidFill>
                          <a:effectLst/>
                        </a:rPr>
                        <a:t>hoặc</a:t>
                      </a:r>
                      <a:r>
                        <a:rPr lang="en-US" sz="1400" b="0" kern="1200" dirty="0">
                          <a:solidFill>
                            <a:srgbClr val="7030A0"/>
                          </a:solidFill>
                          <a:effectLst/>
                        </a:rPr>
                        <a:t> </a:t>
                      </a:r>
                      <a:r>
                        <a:rPr lang="en-US" sz="1400" b="0" kern="1200" dirty="0" err="1">
                          <a:solidFill>
                            <a:srgbClr val="7030A0"/>
                          </a:solidFill>
                          <a:effectLst/>
                        </a:rPr>
                        <a:t>tinh</a:t>
                      </a:r>
                      <a:r>
                        <a:rPr lang="en-US" sz="1400" b="0" kern="1200" dirty="0">
                          <a:solidFill>
                            <a:srgbClr val="7030A0"/>
                          </a:solidFill>
                          <a:effectLst/>
                        </a:rPr>
                        <a:t> </a:t>
                      </a:r>
                      <a:r>
                        <a:rPr lang="en-US" sz="1400" b="0" kern="1200" dirty="0" err="1">
                          <a:solidFill>
                            <a:srgbClr val="7030A0"/>
                          </a:solidFill>
                          <a:effectLst/>
                        </a:rPr>
                        <a:t>thần</a:t>
                      </a:r>
                      <a:r>
                        <a:rPr lang="en-US" sz="1400" b="0" kern="1200" dirty="0">
                          <a:solidFill>
                            <a:srgbClr val="7030A0"/>
                          </a:solidFill>
                          <a:effectLst/>
                        </a:rPr>
                        <a:t> </a:t>
                      </a:r>
                      <a:r>
                        <a:rPr lang="en-US" sz="1400" b="0" kern="1200" dirty="0" err="1">
                          <a:solidFill>
                            <a:srgbClr val="7030A0"/>
                          </a:solidFill>
                          <a:effectLst/>
                        </a:rPr>
                        <a:t>mà</a:t>
                      </a:r>
                      <a:r>
                        <a:rPr lang="en-US" sz="1400" b="0" kern="1200" dirty="0">
                          <a:solidFill>
                            <a:srgbClr val="7030A0"/>
                          </a:solidFill>
                          <a:effectLst/>
                        </a:rPr>
                        <a:t> </a:t>
                      </a:r>
                      <a:r>
                        <a:rPr lang="en-US" sz="1400" b="0" kern="1200" dirty="0" err="1">
                          <a:solidFill>
                            <a:srgbClr val="7030A0"/>
                          </a:solidFill>
                          <a:effectLst/>
                        </a:rPr>
                        <a:t>chủ</a:t>
                      </a:r>
                      <a:r>
                        <a:rPr lang="en-US" sz="1400" b="0" kern="1200" dirty="0">
                          <a:solidFill>
                            <a:srgbClr val="7030A0"/>
                          </a:solidFill>
                          <a:effectLst/>
                        </a:rPr>
                        <a:t> </a:t>
                      </a:r>
                      <a:r>
                        <a:rPr lang="en-US" sz="1400" b="0" kern="1200" dirty="0" err="1">
                          <a:solidFill>
                            <a:srgbClr val="7030A0"/>
                          </a:solidFill>
                          <a:effectLst/>
                        </a:rPr>
                        <a:t>thể</a:t>
                      </a:r>
                      <a:r>
                        <a:rPr lang="en-US" sz="1400" b="0" kern="1200" dirty="0">
                          <a:solidFill>
                            <a:srgbClr val="7030A0"/>
                          </a:solidFill>
                          <a:effectLst/>
                        </a:rPr>
                        <a:t> </a:t>
                      </a:r>
                      <a:r>
                        <a:rPr lang="en-US" sz="1400" b="0" kern="1200" dirty="0" err="1">
                          <a:solidFill>
                            <a:srgbClr val="7030A0"/>
                          </a:solidFill>
                          <a:effectLst/>
                        </a:rPr>
                        <a:t>mong</a:t>
                      </a:r>
                      <a:r>
                        <a:rPr lang="en-US" sz="1400" b="0" kern="1200" dirty="0">
                          <a:solidFill>
                            <a:srgbClr val="7030A0"/>
                          </a:solidFill>
                          <a:effectLst/>
                        </a:rPr>
                        <a:t> </a:t>
                      </a:r>
                      <a:r>
                        <a:rPr lang="en-US" sz="1400" b="0" kern="1200" dirty="0" err="1">
                          <a:solidFill>
                            <a:srgbClr val="7030A0"/>
                          </a:solidFill>
                          <a:effectLst/>
                        </a:rPr>
                        <a:t>muốn</a:t>
                      </a:r>
                      <a:r>
                        <a:rPr lang="en-US" sz="1400" b="0" kern="1200" dirty="0">
                          <a:solidFill>
                            <a:srgbClr val="7030A0"/>
                          </a:solidFill>
                          <a:effectLst/>
                        </a:rPr>
                        <a:t> </a:t>
                      </a:r>
                      <a:r>
                        <a:rPr lang="en-US" sz="1400" b="0" kern="1200" dirty="0" err="1">
                          <a:solidFill>
                            <a:srgbClr val="7030A0"/>
                          </a:solidFill>
                          <a:effectLst/>
                        </a:rPr>
                        <a:t>đạt</a:t>
                      </a:r>
                      <a:r>
                        <a:rPr lang="en-US" sz="1400" b="0" kern="1200" dirty="0">
                          <a:solidFill>
                            <a:srgbClr val="7030A0"/>
                          </a:solidFill>
                          <a:effectLst/>
                        </a:rPr>
                        <a:t> </a:t>
                      </a:r>
                      <a:r>
                        <a:rPr lang="en-US" sz="1400" b="0" kern="1200" dirty="0" err="1">
                          <a:solidFill>
                            <a:srgbClr val="7030A0"/>
                          </a:solidFill>
                          <a:effectLst/>
                        </a:rPr>
                        <a:t>được</a:t>
                      </a:r>
                      <a:endParaRPr lang="vi-VN" sz="1400" dirty="0">
                        <a:solidFill>
                          <a:srgbClr val="7030A0"/>
                        </a:solidFill>
                        <a:latin typeface="Times       New Roman"/>
                      </a:endParaRPr>
                    </a:p>
                  </a:txBody>
                  <a:tcPr anchor="ctr"/>
                </a:tc>
                <a:extLst>
                  <a:ext uri="{0D108BD9-81ED-4DB2-BD59-A6C34878D82A}">
                    <a16:rowId xmlns:a16="http://schemas.microsoft.com/office/drawing/2014/main" xmlns="" val="985306814"/>
                  </a:ext>
                </a:extLst>
              </a:tr>
              <a:tr h="659337">
                <a:tc>
                  <a:txBody>
                    <a:bodyPr/>
                    <a:lstStyle/>
                    <a:p>
                      <a:pPr algn="l">
                        <a:lnSpc>
                          <a:spcPct val="150000"/>
                        </a:lnSpc>
                      </a:pPr>
                      <a:r>
                        <a:rPr lang="en-US" sz="1600" b="1" dirty="0" err="1">
                          <a:solidFill>
                            <a:srgbClr val="7030A0"/>
                          </a:solidFill>
                        </a:rPr>
                        <a:t>Chủ</a:t>
                      </a:r>
                      <a:r>
                        <a:rPr lang="en-US" sz="1600" b="1" dirty="0">
                          <a:solidFill>
                            <a:srgbClr val="7030A0"/>
                          </a:solidFill>
                        </a:rPr>
                        <a:t> </a:t>
                      </a:r>
                      <a:r>
                        <a:rPr lang="en-US" sz="1600" b="1" dirty="0" err="1">
                          <a:solidFill>
                            <a:srgbClr val="7030A0"/>
                          </a:solidFill>
                        </a:rPr>
                        <a:t>thể</a:t>
                      </a:r>
                      <a:endParaRPr lang="vi-VN" sz="1600" b="1" dirty="0">
                        <a:solidFill>
                          <a:srgbClr val="7030A0"/>
                        </a:solidFill>
                        <a:latin typeface="Times       New Roman"/>
                      </a:endParaRPr>
                    </a:p>
                  </a:txBody>
                  <a:tcPr anchor="ctr"/>
                </a:tc>
                <a:tc>
                  <a:txBody>
                    <a:bodyPr/>
                    <a:lstStyle/>
                    <a:p>
                      <a:pPr marL="285750" indent="-285750" algn="l">
                        <a:lnSpc>
                          <a:spcPct val="150000"/>
                        </a:lnSpc>
                        <a:buFontTx/>
                        <a:buChar char="-"/>
                      </a:pPr>
                      <a:r>
                        <a:rPr lang="vi-VN" sz="1400" b="0" kern="1200" dirty="0">
                          <a:solidFill>
                            <a:srgbClr val="7030A0"/>
                          </a:solidFill>
                          <a:effectLst/>
                        </a:rPr>
                        <a:t>Là chủ thể có chức vụ, quyền hạn</a:t>
                      </a:r>
                      <a:endParaRPr lang="vi-VN" sz="1400" dirty="0">
                        <a:solidFill>
                          <a:srgbClr val="7030A0"/>
                        </a:solidFill>
                        <a:latin typeface="Times       New Roman"/>
                      </a:endParaRPr>
                    </a:p>
                  </a:txBody>
                  <a:tcPr anchor="ctr"/>
                </a:tc>
                <a:extLst>
                  <a:ext uri="{0D108BD9-81ED-4DB2-BD59-A6C34878D82A}">
                    <a16:rowId xmlns:a16="http://schemas.microsoft.com/office/drawing/2014/main" xmlns="" val="1819692576"/>
                  </a:ext>
                </a:extLst>
              </a:tr>
              <a:tr h="894621">
                <a:tc>
                  <a:txBody>
                    <a:bodyPr/>
                    <a:lstStyle/>
                    <a:p>
                      <a:pPr algn="l">
                        <a:lnSpc>
                          <a:spcPct val="150000"/>
                        </a:lnSpc>
                      </a:pPr>
                      <a:r>
                        <a:rPr lang="en-US" sz="1600" b="1" dirty="0" err="1">
                          <a:solidFill>
                            <a:srgbClr val="7030A0"/>
                          </a:solidFill>
                        </a:rPr>
                        <a:t>Khách</a:t>
                      </a:r>
                      <a:r>
                        <a:rPr lang="en-US" sz="1600" b="1" dirty="0">
                          <a:solidFill>
                            <a:srgbClr val="7030A0"/>
                          </a:solidFill>
                        </a:rPr>
                        <a:t> </a:t>
                      </a:r>
                      <a:r>
                        <a:rPr lang="en-US" sz="1600" b="1" dirty="0" err="1">
                          <a:solidFill>
                            <a:srgbClr val="7030A0"/>
                          </a:solidFill>
                        </a:rPr>
                        <a:t>thể</a:t>
                      </a:r>
                      <a:endParaRPr lang="vi-VN" sz="1600" b="1" dirty="0">
                        <a:solidFill>
                          <a:srgbClr val="7030A0"/>
                        </a:solidFill>
                        <a:latin typeface="Times       New Roman"/>
                      </a:endParaRPr>
                    </a:p>
                  </a:txBody>
                  <a:tcPr anchor="ctr"/>
                </a:tc>
                <a:tc>
                  <a:txBody>
                    <a:bodyPr/>
                    <a:lstStyle/>
                    <a:p>
                      <a:pPr marL="285750" indent="-285750" algn="l">
                        <a:lnSpc>
                          <a:spcPct val="150000"/>
                        </a:lnSpc>
                        <a:buFontTx/>
                        <a:buChar char="-"/>
                      </a:pPr>
                      <a:r>
                        <a:rPr lang="vi-VN" sz="1400" b="0" kern="1200" dirty="0">
                          <a:solidFill>
                            <a:srgbClr val="7030A0"/>
                          </a:solidFill>
                          <a:effectLst/>
                        </a:rPr>
                        <a:t>Hành vi tham nhũng làm sai lệch hoạt động của cơ quan nhà nước, tổ chức.</a:t>
                      </a:r>
                      <a:endParaRPr lang="vi-VN" sz="1400" dirty="0">
                        <a:solidFill>
                          <a:srgbClr val="7030A0"/>
                        </a:solidFill>
                        <a:latin typeface="Times       New Roman"/>
                      </a:endParaRPr>
                    </a:p>
                  </a:txBody>
                  <a:tcPr anchor="ctr"/>
                </a:tc>
                <a:extLst>
                  <a:ext uri="{0D108BD9-81ED-4DB2-BD59-A6C34878D82A}">
                    <a16:rowId xmlns:a16="http://schemas.microsoft.com/office/drawing/2014/main" xmlns="" val="3672730247"/>
                  </a:ext>
                </a:extLst>
              </a:tr>
            </a:tbl>
          </a:graphicData>
        </a:graphic>
      </p:graphicFrame>
      <p:sp>
        <p:nvSpPr>
          <p:cNvPr id="4" name="Chỗ dành sẵn cho Số hiệu Bản chiếu 3">
            <a:extLst>
              <a:ext uri="{FF2B5EF4-FFF2-40B4-BE49-F238E27FC236}">
                <a16:creationId xmlns:a16="http://schemas.microsoft.com/office/drawing/2014/main" xmlns="" id="{5E27167C-5916-61F9-FA78-5CB634D53EE2}"/>
              </a:ext>
            </a:extLst>
          </p:cNvPr>
          <p:cNvSpPr>
            <a:spLocks noGrp="1"/>
          </p:cNvSpPr>
          <p:nvPr>
            <p:ph type="sldNum" sz="quarter" idx="4"/>
          </p:nvPr>
        </p:nvSpPr>
        <p:spPr/>
        <p:txBody>
          <a:bodyPr/>
          <a:lstStyle/>
          <a:p>
            <a:fld id="{A70E8B96-6C17-404C-B209-86071FBA2009}" type="slidenum">
              <a:rPr lang="en-GB" smtClean="0"/>
              <a:pPr/>
              <a:t>7</a:t>
            </a:fld>
            <a:endParaRPr lang="en-GB"/>
          </a:p>
        </p:txBody>
      </p:sp>
      <p:sp>
        <p:nvSpPr>
          <p:cNvPr id="5" name="Chỗ dành sẵn cho Chân trang 4">
            <a:extLst>
              <a:ext uri="{FF2B5EF4-FFF2-40B4-BE49-F238E27FC236}">
                <a16:creationId xmlns:a16="http://schemas.microsoft.com/office/drawing/2014/main" xmlns="" id="{78FEB0FB-81C5-FCE7-4CEE-5EE0AEF5FFE4}"/>
              </a:ext>
            </a:extLst>
          </p:cNvPr>
          <p:cNvSpPr>
            <a:spLocks noGrp="1"/>
          </p:cNvSpPr>
          <p:nvPr>
            <p:ph type="ftr" sz="quarter" idx="3"/>
          </p:nvPr>
        </p:nvSpPr>
        <p:spPr/>
        <p:txBody>
          <a:bodyPr/>
          <a:lstStyle/>
          <a:p>
            <a:endParaRPr lang="en-GB"/>
          </a:p>
        </p:txBody>
      </p:sp>
    </p:spTree>
    <p:extLst>
      <p:ext uri="{BB962C8B-B14F-4D97-AF65-F5344CB8AC3E}">
        <p14:creationId xmlns:p14="http://schemas.microsoft.com/office/powerpoint/2010/main" xmlns="" val="1417702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3D78B3-7C39-5B36-10A7-1DC81FAB81F7}"/>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xmlns="" id="{964BFD09-D533-ADE3-4A12-A7A660496D01}"/>
              </a:ext>
            </a:extLst>
          </p:cNvPr>
          <p:cNvSpPr>
            <a:spLocks noGrp="1"/>
          </p:cNvSpPr>
          <p:nvPr>
            <p:ph type="title"/>
          </p:nvPr>
        </p:nvSpPr>
        <p:spPr>
          <a:xfrm>
            <a:off x="457200" y="274638"/>
            <a:ext cx="8229600" cy="563562"/>
          </a:xfrm>
        </p:spPr>
        <p:txBody>
          <a:bodyPr/>
          <a:lstStyle/>
          <a:p>
            <a:pPr algn="ctr"/>
            <a:r>
              <a:rPr lang="en-US" sz="3000" b="1" dirty="0">
                <a:effectLst/>
              </a:rPr>
              <a:t>3. Các </a:t>
            </a:r>
            <a:r>
              <a:rPr lang="en-US" sz="3000" b="1" dirty="0" err="1">
                <a:effectLst/>
              </a:rPr>
              <a:t>tội</a:t>
            </a:r>
            <a:r>
              <a:rPr lang="en-US" sz="3000" b="1" dirty="0">
                <a:effectLst/>
              </a:rPr>
              <a:t> </a:t>
            </a:r>
            <a:r>
              <a:rPr lang="en-US" sz="3000" b="1" dirty="0" err="1">
                <a:effectLst/>
              </a:rPr>
              <a:t>tham</a:t>
            </a:r>
            <a:r>
              <a:rPr lang="en-US" sz="3000" b="1" dirty="0">
                <a:effectLst/>
              </a:rPr>
              <a:t> </a:t>
            </a:r>
            <a:r>
              <a:rPr lang="en-US" sz="3000" b="1" dirty="0" err="1">
                <a:effectLst/>
              </a:rPr>
              <a:t>nhũng</a:t>
            </a:r>
            <a:endParaRPr lang="vi-VN" sz="3000" b="1" dirty="0">
              <a:effectLst/>
            </a:endParaRPr>
          </a:p>
        </p:txBody>
      </p:sp>
      <p:sp>
        <p:nvSpPr>
          <p:cNvPr id="3" name="Chỗ dành sẵn cho Nội dung 2">
            <a:extLst>
              <a:ext uri="{FF2B5EF4-FFF2-40B4-BE49-F238E27FC236}">
                <a16:creationId xmlns:a16="http://schemas.microsoft.com/office/drawing/2014/main" xmlns="" id="{4BA7DD83-1F2A-0CDB-CE7C-857CD22E44BA}"/>
              </a:ext>
            </a:extLst>
          </p:cNvPr>
          <p:cNvSpPr>
            <a:spLocks noGrp="1"/>
          </p:cNvSpPr>
          <p:nvPr>
            <p:ph idx="1"/>
          </p:nvPr>
        </p:nvSpPr>
        <p:spPr>
          <a:xfrm>
            <a:off x="457200" y="1066800"/>
            <a:ext cx="8229600" cy="5059363"/>
          </a:xfrm>
        </p:spPr>
        <p:txBody>
          <a:bodyPr/>
          <a:lstStyle/>
          <a:p>
            <a:pPr algn="just">
              <a:spcBef>
                <a:spcPts val="600"/>
              </a:spcBef>
              <a:spcAft>
                <a:spcPts val="600"/>
              </a:spcAft>
            </a:pPr>
            <a:r>
              <a:rPr lang="en-US" sz="2000" b="0" i="1" dirty="0" err="1">
                <a:solidFill>
                  <a:srgbClr val="111111"/>
                </a:solidFill>
                <a:effectLst/>
                <a:latin typeface="Times New Roman" panose="02020603050405020304" pitchFamily="18" charset="0"/>
                <a:cs typeface="Times New Roman" panose="02020603050405020304" pitchFamily="18" charset="0"/>
              </a:rPr>
              <a:t>Tội</a:t>
            </a:r>
            <a:r>
              <a:rPr lang="en-US" sz="2000" b="0" i="1" dirty="0">
                <a:solidFill>
                  <a:srgbClr val="111111"/>
                </a:solidFill>
                <a:effectLst/>
                <a:latin typeface="Times New Roman" panose="02020603050405020304" pitchFamily="18" charset="0"/>
                <a:cs typeface="Times New Roman" panose="02020603050405020304" pitchFamily="18" charset="0"/>
              </a:rPr>
              <a:t> </a:t>
            </a:r>
            <a:r>
              <a:rPr lang="en-US" sz="2000" i="1" dirty="0">
                <a:solidFill>
                  <a:srgbClr val="111111"/>
                </a:solidFill>
                <a:effectLst/>
                <a:latin typeface="Times New Roman" panose="02020603050405020304" pitchFamily="18" charset="0"/>
                <a:cs typeface="Times New Roman" panose="02020603050405020304" pitchFamily="18" charset="0"/>
              </a:rPr>
              <a:t>t</a:t>
            </a:r>
            <a:r>
              <a:rPr lang="vi-VN" sz="2000" b="0" i="1" dirty="0">
                <a:solidFill>
                  <a:srgbClr val="111111"/>
                </a:solidFill>
                <a:effectLst/>
                <a:latin typeface="Times New Roman" panose="02020603050405020304" pitchFamily="18" charset="0"/>
                <a:cs typeface="Times New Roman" panose="02020603050405020304" pitchFamily="18" charset="0"/>
              </a:rPr>
              <a:t>ham ô tài sản</a:t>
            </a:r>
            <a:r>
              <a:rPr lang="en-US" sz="2000">
                <a:solidFill>
                  <a:srgbClr val="111111"/>
                </a:solidFill>
                <a:effectLst/>
                <a:latin typeface="Times New Roman" panose="02020603050405020304" pitchFamily="18" charset="0"/>
                <a:cs typeface="Times New Roman" panose="02020603050405020304" pitchFamily="18" charset="0"/>
              </a:rPr>
              <a:t>: </a:t>
            </a:r>
            <a:r>
              <a:rPr lang="vi-VN" sz="2000">
                <a:effectLst/>
                <a:latin typeface="Times New Roman" panose="02020603050405020304" pitchFamily="18" charset="0"/>
                <a:cs typeface="Times New Roman" panose="02020603050405020304" pitchFamily="18" charset="0"/>
              </a:rPr>
              <a:t>Tham </a:t>
            </a:r>
            <a:r>
              <a:rPr lang="vi-VN" sz="2000" dirty="0">
                <a:effectLst/>
                <a:latin typeface="Times New Roman" panose="02020603050405020304" pitchFamily="18" charset="0"/>
                <a:cs typeface="Times New Roman" panose="02020603050405020304" pitchFamily="18" charset="0"/>
              </a:rPr>
              <a:t>ô tài sản là hành vi lợi dụng chức vụ quyền hạn chiếm đoạt tài sản mà mình có trách nhiệm quản lý</a:t>
            </a:r>
            <a:r>
              <a:rPr lang="vi-VN" sz="2000" b="0" i="0" dirty="0">
                <a:solidFill>
                  <a:srgbClr val="111111"/>
                </a:solidFill>
                <a:effectLst/>
                <a:latin typeface="Times New Roman" panose="02020603050405020304" pitchFamily="18" charset="0"/>
                <a:cs typeface="Times New Roman" panose="02020603050405020304" pitchFamily="18" charset="0"/>
              </a:rPr>
              <a:t>; </a:t>
            </a:r>
            <a:endParaRPr lang="en-US" sz="2000" b="0" i="0" dirty="0">
              <a:solidFill>
                <a:srgbClr val="111111"/>
              </a:solidFill>
              <a:effectLst/>
              <a:latin typeface="Times New Roman" panose="02020603050405020304" pitchFamily="18" charset="0"/>
              <a:cs typeface="Times New Roman" panose="02020603050405020304" pitchFamily="18" charset="0"/>
            </a:endParaRPr>
          </a:p>
          <a:p>
            <a:pPr algn="just">
              <a:spcBef>
                <a:spcPts val="600"/>
              </a:spcBef>
              <a:spcAft>
                <a:spcPts val="600"/>
              </a:spcAft>
            </a:pPr>
            <a:r>
              <a:rPr lang="en-US" sz="2000" b="0" i="1" dirty="0" err="1">
                <a:solidFill>
                  <a:srgbClr val="111111"/>
                </a:solidFill>
                <a:effectLst/>
                <a:latin typeface="Times New Roman" panose="02020603050405020304" pitchFamily="18" charset="0"/>
                <a:cs typeface="Times New Roman" panose="02020603050405020304" pitchFamily="18" charset="0"/>
              </a:rPr>
              <a:t>Tội</a:t>
            </a:r>
            <a:r>
              <a:rPr lang="en-US" sz="2000" b="0" i="1" dirty="0">
                <a:solidFill>
                  <a:srgbClr val="111111"/>
                </a:solidFill>
                <a:effectLst/>
                <a:latin typeface="Times New Roman" panose="02020603050405020304" pitchFamily="18" charset="0"/>
                <a:cs typeface="Times New Roman" panose="02020603050405020304" pitchFamily="18" charset="0"/>
              </a:rPr>
              <a:t> </a:t>
            </a:r>
            <a:r>
              <a:rPr lang="vi-VN" sz="2000" b="0" i="1" dirty="0">
                <a:solidFill>
                  <a:srgbClr val="111111"/>
                </a:solidFill>
                <a:effectLst/>
                <a:latin typeface="Times New Roman" panose="02020603050405020304" pitchFamily="18" charset="0"/>
                <a:cs typeface="Times New Roman" panose="02020603050405020304" pitchFamily="18" charset="0"/>
              </a:rPr>
              <a:t>nhận hối lộ</a:t>
            </a:r>
            <a:r>
              <a:rPr lang="en-US" sz="2000" dirty="0">
                <a:solidFill>
                  <a:srgbClr val="111111"/>
                </a:solidFill>
                <a:effectLst/>
                <a:latin typeface="Times New Roman" panose="02020603050405020304" pitchFamily="18" charset="0"/>
                <a:cs typeface="Times New Roman" panose="02020603050405020304" pitchFamily="18" charset="0"/>
              </a:rPr>
              <a:t>: N</a:t>
            </a:r>
            <a:r>
              <a:rPr lang="vi-VN" sz="2000" dirty="0">
                <a:effectLst/>
                <a:latin typeface="Times New Roman" panose="02020603050405020304" pitchFamily="18" charset="0"/>
                <a:cs typeface="Times New Roman" panose="02020603050405020304" pitchFamily="18" charset="0"/>
              </a:rPr>
              <a:t>hận hối lộ là hành vi lợi dụng chức vụ, quyền hạn, trực tiếp hoặc qua trung gian đã nhận hoặc sẽ nhận tiền, tài sản hoặc lợi ích vật chất khác dưới bất kỳ hình thức nào để làm hoặc không làm một việc vì lợi ích hoặc theo yêu cầu của người đưa tiền của</a:t>
            </a:r>
            <a:r>
              <a:rPr lang="en-US" sz="2000" dirty="0">
                <a:effectLst/>
                <a:latin typeface="Times New Roman" panose="02020603050405020304" pitchFamily="18" charset="0"/>
                <a:cs typeface="Times New Roman" panose="02020603050405020304" pitchFamily="18" charset="0"/>
              </a:rPr>
              <a:t>.</a:t>
            </a:r>
            <a:endParaRPr lang="en-US" sz="2000" b="0" i="0" dirty="0">
              <a:solidFill>
                <a:srgbClr val="111111"/>
              </a:solidFill>
              <a:effectLst/>
              <a:latin typeface="Times New Roman" panose="02020603050405020304" pitchFamily="18" charset="0"/>
              <a:cs typeface="Times New Roman" panose="02020603050405020304" pitchFamily="18" charset="0"/>
            </a:endParaRPr>
          </a:p>
          <a:p>
            <a:pPr algn="just">
              <a:spcBef>
                <a:spcPts val="600"/>
              </a:spcBef>
              <a:spcAft>
                <a:spcPts val="600"/>
              </a:spcAft>
            </a:pPr>
            <a:r>
              <a:rPr lang="en-US" sz="2000" b="0" i="1" dirty="0" err="1">
                <a:solidFill>
                  <a:srgbClr val="111111"/>
                </a:solidFill>
                <a:effectLst/>
                <a:latin typeface="Times New Roman" panose="02020603050405020304" pitchFamily="18" charset="0"/>
                <a:cs typeface="Times New Roman" panose="02020603050405020304" pitchFamily="18" charset="0"/>
              </a:rPr>
              <a:t>Tội</a:t>
            </a:r>
            <a:r>
              <a:rPr lang="en-US" sz="2000" b="0" i="1" dirty="0">
                <a:solidFill>
                  <a:srgbClr val="111111"/>
                </a:solidFill>
                <a:effectLst/>
                <a:latin typeface="Times New Roman" panose="02020603050405020304" pitchFamily="18" charset="0"/>
                <a:cs typeface="Times New Roman" panose="02020603050405020304" pitchFamily="18" charset="0"/>
              </a:rPr>
              <a:t> </a:t>
            </a:r>
            <a:r>
              <a:rPr lang="vi-VN" sz="2000" b="0" i="1" dirty="0">
                <a:solidFill>
                  <a:srgbClr val="111111"/>
                </a:solidFill>
                <a:effectLst/>
                <a:latin typeface="Times New Roman" panose="02020603050405020304" pitchFamily="18" charset="0"/>
                <a:cs typeface="Times New Roman" panose="02020603050405020304" pitchFamily="18" charset="0"/>
              </a:rPr>
              <a:t>lạm dụng chức vụ, quyền hạn chiếm đoạt tài sản</a:t>
            </a:r>
            <a:r>
              <a:rPr lang="en-US" sz="2000" dirty="0">
                <a:solidFill>
                  <a:srgbClr val="111111"/>
                </a:solidFill>
                <a:effectLst/>
                <a:latin typeface="Times New Roman" panose="02020603050405020304" pitchFamily="18" charset="0"/>
                <a:cs typeface="Times New Roman" panose="02020603050405020304" pitchFamily="18" charset="0"/>
              </a:rPr>
              <a:t>: </a:t>
            </a:r>
            <a:r>
              <a:rPr lang="vi-VN" sz="2000" dirty="0">
                <a:effectLst/>
                <a:latin typeface="Times New Roman" panose="02020603050405020304" pitchFamily="18" charset="0"/>
                <a:cs typeface="Times New Roman" panose="02020603050405020304" pitchFamily="18" charset="0"/>
              </a:rPr>
              <a:t>Lạm dụng chức vụ quyền hạn chiếm đoạt tài sản là trường hợp người có chức vụ, quyền hạn đã (lạm dụng) vượt quá chức vụ, quyền hạn của mình chiếm đoạt tài sản của người khác</a:t>
            </a:r>
            <a:r>
              <a:rPr lang="en-US" sz="2000" dirty="0">
                <a:effectLst/>
                <a:latin typeface="Times New Roman" panose="02020603050405020304" pitchFamily="18" charset="0"/>
                <a:cs typeface="Times New Roman" panose="02020603050405020304" pitchFamily="18" charset="0"/>
              </a:rPr>
              <a:t>.</a:t>
            </a:r>
            <a:endParaRPr lang="en-US" sz="2000" b="0" i="0" dirty="0">
              <a:solidFill>
                <a:srgbClr val="111111"/>
              </a:solidFill>
              <a:effectLst/>
              <a:latin typeface="Times New Roman" panose="02020603050405020304" pitchFamily="18" charset="0"/>
              <a:cs typeface="Times New Roman" panose="02020603050405020304" pitchFamily="18" charset="0"/>
            </a:endParaRPr>
          </a:p>
          <a:p>
            <a:pPr algn="just">
              <a:spcBef>
                <a:spcPts val="600"/>
              </a:spcBef>
              <a:spcAft>
                <a:spcPts val="600"/>
              </a:spcAft>
            </a:pPr>
            <a:r>
              <a:rPr lang="en-US" sz="2000" b="0" i="1" dirty="0" err="1">
                <a:solidFill>
                  <a:srgbClr val="111111"/>
                </a:solidFill>
                <a:effectLst/>
                <a:latin typeface="Times New Roman" panose="02020603050405020304" pitchFamily="18" charset="0"/>
                <a:cs typeface="Times New Roman" panose="02020603050405020304" pitchFamily="18" charset="0"/>
              </a:rPr>
              <a:t>Tội</a:t>
            </a:r>
            <a:r>
              <a:rPr lang="en-US" sz="2000" b="0" i="1" dirty="0">
                <a:solidFill>
                  <a:srgbClr val="111111"/>
                </a:solidFill>
                <a:effectLst/>
                <a:latin typeface="Times New Roman" panose="02020603050405020304" pitchFamily="18" charset="0"/>
                <a:cs typeface="Times New Roman" panose="02020603050405020304" pitchFamily="18" charset="0"/>
              </a:rPr>
              <a:t> </a:t>
            </a:r>
            <a:r>
              <a:rPr lang="vi-VN" sz="2000" b="0" i="1" dirty="0">
                <a:solidFill>
                  <a:srgbClr val="111111"/>
                </a:solidFill>
                <a:effectLst/>
                <a:latin typeface="Times New Roman" panose="02020603050405020304" pitchFamily="18" charset="0"/>
                <a:cs typeface="Times New Roman" panose="02020603050405020304" pitchFamily="18" charset="0"/>
              </a:rPr>
              <a:t>lợi dụng chức vụ, quyền hạn trong khi thi hành công vụ</a:t>
            </a:r>
            <a:r>
              <a:rPr lang="en-US" sz="2000" dirty="0">
                <a:solidFill>
                  <a:srgbClr val="111111"/>
                </a:solidFill>
                <a:effectLst/>
                <a:latin typeface="Times New Roman" panose="02020603050405020304" pitchFamily="18" charset="0"/>
                <a:cs typeface="Times New Roman" panose="02020603050405020304" pitchFamily="18" charset="0"/>
              </a:rPr>
              <a:t>: </a:t>
            </a:r>
            <a:r>
              <a:rPr lang="vi-VN" sz="2000" dirty="0">
                <a:effectLst/>
                <a:latin typeface="Times New Roman" panose="02020603050405020304" pitchFamily="18" charset="0"/>
                <a:cs typeface="Times New Roman" panose="02020603050405020304" pitchFamily="18" charset="0"/>
              </a:rPr>
              <a:t>Lợi dụng chức vụ, quyền hạn trong khi thi hành nhiệm vụ, công vụ vì vụ lợi là trường hợp người có chức vụ, quyền hạn đã lợi dụng chức vụ, quyền hạn hay trách của mình làm trái công vụ để mưu cầu lợi ích riêng</a:t>
            </a:r>
            <a:r>
              <a:rPr lang="vi-VN" sz="2000" b="0" i="0" dirty="0">
                <a:solidFill>
                  <a:srgbClr val="111111"/>
                </a:solidFill>
                <a:effectLst/>
                <a:latin typeface="Times New Roman" panose="02020603050405020304" pitchFamily="18" charset="0"/>
                <a:cs typeface="Times New Roman" panose="02020603050405020304" pitchFamily="18" charset="0"/>
              </a:rPr>
              <a:t>; </a:t>
            </a:r>
            <a:endParaRPr lang="en-US" sz="2000" b="0" i="0" dirty="0">
              <a:solidFill>
                <a:srgbClr val="11111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69929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22C92EA-1473-2585-2DC5-6EF49233C424}"/>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xmlns="" id="{CAE5C2D9-7FE2-43E3-7E30-5B986D2135B7}"/>
              </a:ext>
            </a:extLst>
          </p:cNvPr>
          <p:cNvSpPr>
            <a:spLocks noGrp="1"/>
          </p:cNvSpPr>
          <p:nvPr>
            <p:ph type="title"/>
          </p:nvPr>
        </p:nvSpPr>
        <p:spPr>
          <a:xfrm>
            <a:off x="457200" y="274638"/>
            <a:ext cx="8229600" cy="334962"/>
          </a:xfrm>
        </p:spPr>
        <p:txBody>
          <a:bodyPr>
            <a:normAutofit fontScale="90000"/>
          </a:bodyPr>
          <a:lstStyle/>
          <a:p>
            <a:pPr algn="ctr"/>
            <a:r>
              <a:rPr lang="en-US" dirty="0">
                <a:effectLst/>
                <a:latin typeface="Times New Roman" panose="02020603050405020304" pitchFamily="18" charset="0"/>
                <a:cs typeface="Times New Roman" panose="02020603050405020304" pitchFamily="18" charset="0"/>
              </a:rPr>
              <a:t>3</a:t>
            </a:r>
            <a:r>
              <a:rPr lang="en-US" sz="3000" b="1" dirty="0">
                <a:effectLst/>
                <a:latin typeface="Times New Roman" panose="02020603050405020304" pitchFamily="18" charset="0"/>
                <a:cs typeface="Times New Roman" panose="02020603050405020304" pitchFamily="18" charset="0"/>
              </a:rPr>
              <a:t>. Các </a:t>
            </a:r>
            <a:r>
              <a:rPr lang="en-US" sz="3000" b="1" dirty="0" err="1">
                <a:effectLst/>
                <a:latin typeface="Times New Roman" panose="02020603050405020304" pitchFamily="18" charset="0"/>
                <a:cs typeface="Times New Roman" panose="02020603050405020304" pitchFamily="18" charset="0"/>
              </a:rPr>
              <a:t>tội</a:t>
            </a:r>
            <a:r>
              <a:rPr lang="en-US" sz="3000" b="1" dirty="0">
                <a:effectLst/>
                <a:latin typeface="Times New Roman" panose="02020603050405020304" pitchFamily="18" charset="0"/>
                <a:cs typeface="Times New Roman" panose="02020603050405020304" pitchFamily="18" charset="0"/>
              </a:rPr>
              <a:t> </a:t>
            </a:r>
            <a:r>
              <a:rPr lang="en-US" sz="3000" b="1" dirty="0" err="1">
                <a:effectLst/>
                <a:latin typeface="Times New Roman" panose="02020603050405020304" pitchFamily="18" charset="0"/>
                <a:cs typeface="Times New Roman" panose="02020603050405020304" pitchFamily="18" charset="0"/>
              </a:rPr>
              <a:t>tham</a:t>
            </a:r>
            <a:r>
              <a:rPr lang="en-US" sz="3000" b="1" dirty="0">
                <a:effectLst/>
                <a:latin typeface="Times New Roman" panose="02020603050405020304" pitchFamily="18" charset="0"/>
                <a:cs typeface="Times New Roman" panose="02020603050405020304" pitchFamily="18" charset="0"/>
              </a:rPr>
              <a:t> </a:t>
            </a:r>
            <a:r>
              <a:rPr lang="en-US" sz="3000" b="1" dirty="0" err="1">
                <a:effectLst/>
                <a:latin typeface="Times New Roman" panose="02020603050405020304" pitchFamily="18" charset="0"/>
                <a:cs typeface="Times New Roman" panose="02020603050405020304" pitchFamily="18" charset="0"/>
              </a:rPr>
              <a:t>nhũng</a:t>
            </a:r>
            <a:r>
              <a:rPr lang="en-US" sz="3000" b="1" dirty="0">
                <a:effectLst/>
                <a:latin typeface="Times New Roman" panose="02020603050405020304" pitchFamily="18" charset="0"/>
                <a:cs typeface="Times New Roman" panose="02020603050405020304" pitchFamily="18" charset="0"/>
              </a:rPr>
              <a:t> (</a:t>
            </a:r>
            <a:r>
              <a:rPr lang="en-US" sz="3000" b="1" dirty="0" err="1">
                <a:effectLst/>
                <a:latin typeface="Times New Roman" panose="02020603050405020304" pitchFamily="18" charset="0"/>
                <a:cs typeface="Times New Roman" panose="02020603050405020304" pitchFamily="18" charset="0"/>
              </a:rPr>
              <a:t>tiếp</a:t>
            </a:r>
            <a:r>
              <a:rPr lang="en-US" sz="3000" b="1" dirty="0">
                <a:effectLst/>
                <a:latin typeface="Times New Roman" panose="02020603050405020304" pitchFamily="18" charset="0"/>
                <a:cs typeface="Times New Roman" panose="02020603050405020304" pitchFamily="18" charset="0"/>
              </a:rPr>
              <a:t>)</a:t>
            </a:r>
            <a:endParaRPr lang="vi-VN" sz="3000" b="1" dirty="0">
              <a:effectLst/>
              <a:latin typeface="Times New Roman" panose="02020603050405020304" pitchFamily="18"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xmlns="" id="{B3B366A3-2E0E-92F9-7C91-1345C9667258}"/>
              </a:ext>
            </a:extLst>
          </p:cNvPr>
          <p:cNvSpPr>
            <a:spLocks noGrp="1"/>
          </p:cNvSpPr>
          <p:nvPr>
            <p:ph idx="1"/>
          </p:nvPr>
        </p:nvSpPr>
        <p:spPr>
          <a:xfrm>
            <a:off x="457200" y="838200"/>
            <a:ext cx="8229600" cy="5745162"/>
          </a:xfrm>
        </p:spPr>
        <p:txBody>
          <a:bodyPr/>
          <a:lstStyle/>
          <a:p>
            <a:pPr algn="just">
              <a:spcBef>
                <a:spcPts val="600"/>
              </a:spcBef>
              <a:spcAft>
                <a:spcPts val="600"/>
              </a:spcAft>
            </a:pPr>
            <a:r>
              <a:rPr lang="en-US" sz="2000" b="0" i="1" dirty="0" err="1">
                <a:solidFill>
                  <a:srgbClr val="111111"/>
                </a:solidFill>
                <a:effectLst/>
                <a:latin typeface="Times New Roman" panose="02020603050405020304" pitchFamily="18" charset="0"/>
                <a:cs typeface="Times New Roman" panose="02020603050405020304" pitchFamily="18" charset="0"/>
              </a:rPr>
              <a:t>Tội</a:t>
            </a:r>
            <a:r>
              <a:rPr lang="en-US" sz="2000" b="0" i="1" dirty="0">
                <a:solidFill>
                  <a:srgbClr val="111111"/>
                </a:solidFill>
                <a:effectLst/>
                <a:latin typeface="Times New Roman" panose="02020603050405020304" pitchFamily="18" charset="0"/>
                <a:cs typeface="Times New Roman" panose="02020603050405020304" pitchFamily="18" charset="0"/>
              </a:rPr>
              <a:t> </a:t>
            </a:r>
            <a:r>
              <a:rPr lang="vi-VN" sz="2000" b="0" i="1" dirty="0">
                <a:solidFill>
                  <a:srgbClr val="111111"/>
                </a:solidFill>
                <a:effectLst/>
                <a:latin typeface="Times New Roman" panose="02020603050405020304" pitchFamily="18" charset="0"/>
                <a:cs typeface="Times New Roman" panose="02020603050405020304" pitchFamily="18" charset="0"/>
              </a:rPr>
              <a:t>lạm quyền trong khi thi hành công vụ</a:t>
            </a:r>
            <a:r>
              <a:rPr lang="en-US" sz="2000" dirty="0">
                <a:solidFill>
                  <a:srgbClr val="111111"/>
                </a:solidFill>
                <a:effectLst/>
                <a:latin typeface="Times New Roman" panose="02020603050405020304" pitchFamily="18" charset="0"/>
                <a:cs typeface="Times New Roman" panose="02020603050405020304" pitchFamily="18" charset="0"/>
              </a:rPr>
              <a:t>:</a:t>
            </a:r>
            <a:r>
              <a:rPr lang="en-US" sz="2000" i="1" dirty="0">
                <a:solidFill>
                  <a:srgbClr val="111111"/>
                </a:solidFill>
                <a:effectLst/>
                <a:latin typeface="Times New Roman" panose="02020603050405020304" pitchFamily="18" charset="0"/>
                <a:cs typeface="Times New Roman" panose="02020603050405020304" pitchFamily="18" charset="0"/>
              </a:rPr>
              <a:t> </a:t>
            </a:r>
            <a:r>
              <a:rPr lang="vi-VN" sz="2000" dirty="0">
                <a:effectLst/>
                <a:latin typeface="Times New Roman" panose="02020603050405020304" pitchFamily="18" charset="0"/>
                <a:cs typeface="Times New Roman" panose="02020603050405020304" pitchFamily="18" charset="0"/>
              </a:rPr>
              <a:t>Lạm quyền trong khi thi hành nhiệm vụ, công vụ vì vụ lợi là trường hợp người có chức vụ, quyền hạn vì mưu cầu lợi ích cho mình hoặc cho người khác đã vượt </a:t>
            </a:r>
            <a:r>
              <a:rPr lang="vi-VN" sz="2000" dirty="0" err="1">
                <a:effectLst/>
                <a:latin typeface="Times New Roman" panose="02020603050405020304" pitchFamily="18" charset="0"/>
                <a:cs typeface="Times New Roman" panose="02020603050405020304" pitchFamily="18" charset="0"/>
              </a:rPr>
              <a:t>qúa</a:t>
            </a:r>
            <a:r>
              <a:rPr lang="vi-VN" sz="2000" dirty="0">
                <a:effectLst/>
                <a:latin typeface="Times New Roman" panose="02020603050405020304" pitchFamily="18" charset="0"/>
                <a:cs typeface="Times New Roman" panose="02020603050405020304" pitchFamily="18" charset="0"/>
              </a:rPr>
              <a:t> chức vụ, quyền hạn làm trái công vụ</a:t>
            </a:r>
            <a:r>
              <a:rPr lang="vi-VN" sz="2000" b="0" i="0" dirty="0">
                <a:solidFill>
                  <a:srgbClr val="111111"/>
                </a:solidFill>
                <a:effectLst/>
                <a:latin typeface="Times New Roman" panose="02020603050405020304" pitchFamily="18" charset="0"/>
                <a:cs typeface="Times New Roman" panose="02020603050405020304" pitchFamily="18" charset="0"/>
              </a:rPr>
              <a:t>; </a:t>
            </a:r>
            <a:endParaRPr lang="en-US" sz="2000" b="0" i="0" dirty="0">
              <a:solidFill>
                <a:srgbClr val="111111"/>
              </a:solidFill>
              <a:effectLst/>
              <a:latin typeface="Times New Roman" panose="02020603050405020304" pitchFamily="18" charset="0"/>
              <a:cs typeface="Times New Roman" panose="02020603050405020304" pitchFamily="18" charset="0"/>
            </a:endParaRPr>
          </a:p>
          <a:p>
            <a:pPr algn="just">
              <a:spcBef>
                <a:spcPts val="600"/>
              </a:spcBef>
              <a:spcAft>
                <a:spcPts val="600"/>
              </a:spcAft>
            </a:pPr>
            <a:r>
              <a:rPr lang="en-US" sz="2000" b="0" i="1" dirty="0" err="1">
                <a:solidFill>
                  <a:srgbClr val="111111"/>
                </a:solidFill>
                <a:effectLst/>
                <a:latin typeface="Times New Roman" panose="02020603050405020304" pitchFamily="18" charset="0"/>
                <a:cs typeface="Times New Roman" panose="02020603050405020304" pitchFamily="18" charset="0"/>
              </a:rPr>
              <a:t>Tội</a:t>
            </a:r>
            <a:r>
              <a:rPr lang="en-US" sz="2000" b="0" i="1" dirty="0">
                <a:solidFill>
                  <a:srgbClr val="111111"/>
                </a:solidFill>
                <a:effectLst/>
                <a:latin typeface="Times New Roman" panose="02020603050405020304" pitchFamily="18" charset="0"/>
                <a:cs typeface="Times New Roman" panose="02020603050405020304" pitchFamily="18" charset="0"/>
              </a:rPr>
              <a:t> </a:t>
            </a:r>
            <a:r>
              <a:rPr lang="vi-VN" sz="2000" b="0" i="1" dirty="0">
                <a:solidFill>
                  <a:srgbClr val="111111"/>
                </a:solidFill>
                <a:effectLst/>
                <a:latin typeface="Times New Roman" panose="02020603050405020304" pitchFamily="18" charset="0"/>
                <a:cs typeface="Times New Roman" panose="02020603050405020304" pitchFamily="18" charset="0"/>
              </a:rPr>
              <a:t>lợi dụng chức vụ, quyền hạn gây ảnh hưởng đối với người khác để trục lợi</a:t>
            </a:r>
            <a:r>
              <a:rPr lang="en-US" sz="2000" dirty="0">
                <a:solidFill>
                  <a:srgbClr val="111111"/>
                </a:solidFill>
                <a:effectLst/>
                <a:latin typeface="Times New Roman" panose="02020603050405020304" pitchFamily="18" charset="0"/>
                <a:cs typeface="Times New Roman" panose="02020603050405020304" pitchFamily="18" charset="0"/>
              </a:rPr>
              <a:t>: </a:t>
            </a:r>
            <a:r>
              <a:rPr lang="vi-VN" sz="2000" dirty="0">
                <a:effectLst/>
                <a:latin typeface="Times New Roman" panose="02020603050405020304" pitchFamily="18" charset="0"/>
                <a:cs typeface="Times New Roman" panose="02020603050405020304" pitchFamily="18" charset="0"/>
              </a:rPr>
              <a:t>Lợi dụng chức vụ, quyền hạn gây ảnh hưởng với người khác để trục lợi là hành vi lợi dụng chức vụ, quyền hạn, trực tiếp hoặc qua trung gian đã nhận hoặc sẽ nhận tiền, tài sản hoặc lợi ích vật chất khác dưới bất kỳ hình thức nào để dùng ảnh hưởng của mình thúc đẩy người có chức vụ, quyền hạn làm hoặc không làm một việc thuộc trách nhiệm hoặc liên quan trực tiếp đến công việc của họ hoặc làm một việc không được phép làm</a:t>
            </a:r>
            <a:r>
              <a:rPr lang="en-US" sz="2000" dirty="0">
                <a:effectLst/>
                <a:latin typeface="Times New Roman" panose="02020603050405020304" pitchFamily="18" charset="0"/>
                <a:cs typeface="Times New Roman" panose="02020603050405020304" pitchFamily="18" charset="0"/>
              </a:rPr>
              <a:t>.</a:t>
            </a:r>
            <a:endParaRPr lang="en-US" sz="2000" b="0" i="0" dirty="0">
              <a:solidFill>
                <a:srgbClr val="111111"/>
              </a:solidFill>
              <a:effectLst/>
              <a:latin typeface="Times New Roman" panose="02020603050405020304" pitchFamily="18" charset="0"/>
              <a:cs typeface="Times New Roman" panose="02020603050405020304" pitchFamily="18" charset="0"/>
            </a:endParaRPr>
          </a:p>
          <a:p>
            <a:pPr algn="just">
              <a:spcBef>
                <a:spcPts val="600"/>
              </a:spcBef>
              <a:spcAft>
                <a:spcPts val="600"/>
              </a:spcAft>
            </a:pPr>
            <a:r>
              <a:rPr lang="en-US" sz="2000" b="0" i="1" dirty="0" err="1">
                <a:solidFill>
                  <a:srgbClr val="111111"/>
                </a:solidFill>
                <a:effectLst/>
                <a:latin typeface="Times New Roman" panose="02020603050405020304" pitchFamily="18" charset="0"/>
                <a:cs typeface="Times New Roman" panose="02020603050405020304" pitchFamily="18" charset="0"/>
              </a:rPr>
              <a:t>Tội</a:t>
            </a:r>
            <a:r>
              <a:rPr lang="en-US" sz="2000" b="0" i="1" dirty="0">
                <a:solidFill>
                  <a:srgbClr val="111111"/>
                </a:solidFill>
                <a:effectLst/>
                <a:latin typeface="Times New Roman" panose="02020603050405020304" pitchFamily="18" charset="0"/>
                <a:cs typeface="Times New Roman" panose="02020603050405020304" pitchFamily="18" charset="0"/>
              </a:rPr>
              <a:t> </a:t>
            </a:r>
            <a:r>
              <a:rPr lang="vi-VN" sz="2000" b="0" i="1" dirty="0">
                <a:solidFill>
                  <a:srgbClr val="111111"/>
                </a:solidFill>
                <a:effectLst/>
                <a:latin typeface="Times New Roman" panose="02020603050405020304" pitchFamily="18" charset="0"/>
                <a:cs typeface="Times New Roman" panose="02020603050405020304" pitchFamily="18" charset="0"/>
              </a:rPr>
              <a:t>giả mạo trong công tác</a:t>
            </a:r>
            <a:r>
              <a:rPr lang="en-US" sz="2000" dirty="0">
                <a:solidFill>
                  <a:srgbClr val="111111"/>
                </a:solidFill>
                <a:effectLst/>
                <a:latin typeface="Times New Roman" panose="02020603050405020304" pitchFamily="18" charset="0"/>
                <a:cs typeface="Times New Roman" panose="02020603050405020304" pitchFamily="18" charset="0"/>
              </a:rPr>
              <a:t>: </a:t>
            </a:r>
            <a:r>
              <a:rPr lang="vi-VN" sz="2000" dirty="0">
                <a:effectLst/>
                <a:latin typeface="Times New Roman" panose="02020603050405020304" pitchFamily="18" charset="0"/>
                <a:cs typeface="Times New Roman" panose="02020603050405020304" pitchFamily="18" charset="0"/>
              </a:rPr>
              <a:t>Giả mạo trong công tác vì vụ lợi là trường hợp người có chức vụ, quyền hạn vì vụ lợi mà lợi dụng chức vụ, quyền hạn sửa chữa, làm sai lệch nội dung giấy tờ, tài liệu hoặc làm, cấp giấy tờ giả hoặc giả mạo chữ ký của người có chức vụ, quyền hạn</a:t>
            </a:r>
            <a:r>
              <a:rPr lang="en-US" sz="2000" dirty="0">
                <a:effectLst/>
                <a:latin typeface="Times New Roman" panose="02020603050405020304" pitchFamily="18" charset="0"/>
                <a:cs typeface="Times New Roman" panose="02020603050405020304" pitchFamily="18" charset="0"/>
              </a:rPr>
              <a:t>.</a:t>
            </a:r>
            <a:endParaRPr lang="vi-VN" sz="2000" dirty="0">
              <a:effectLst/>
              <a:latin typeface="Times New Roman" panose="02020603050405020304" pitchFamily="18" charset="0"/>
              <a:cs typeface="Times New Roman" panose="02020603050405020304" pitchFamily="18" charset="0"/>
            </a:endParaRPr>
          </a:p>
          <a:p>
            <a:endParaRPr lang="vi-VN" dirty="0"/>
          </a:p>
        </p:txBody>
      </p:sp>
    </p:spTree>
    <p:extLst>
      <p:ext uri="{BB962C8B-B14F-4D97-AF65-F5344CB8AC3E}">
        <p14:creationId xmlns:p14="http://schemas.microsoft.com/office/powerpoint/2010/main" xmlns="" val="2710115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anim calcmode="lin" valueType="num">
                                      <p:cBhvr>
                                        <p:cTn id="2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E43FBD3-8579-F932-2AEC-25D67D9BFBBA}"/>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xmlns="" id="{B8D9F46C-AF7D-8A75-DDAB-0643273BBA10}"/>
              </a:ext>
            </a:extLst>
          </p:cNvPr>
          <p:cNvSpPr>
            <a:spLocks noGrp="1"/>
          </p:cNvSpPr>
          <p:nvPr>
            <p:ph type="title"/>
          </p:nvPr>
        </p:nvSpPr>
        <p:spPr>
          <a:xfrm>
            <a:off x="457200" y="76200"/>
            <a:ext cx="8229600" cy="655637"/>
          </a:xfrm>
        </p:spPr>
        <p:txBody>
          <a:bodyPr/>
          <a:lstStyle/>
          <a:p>
            <a:pPr algn="ctr"/>
            <a:r>
              <a:rPr lang="en-US" dirty="0">
                <a:latin typeface="Times New Roman" panose="02020603050405020304" pitchFamily="18" charset="0"/>
                <a:cs typeface="Times New Roman" panose="02020603050405020304" pitchFamily="18" charset="0"/>
              </a:rPr>
              <a:t>3</a:t>
            </a:r>
            <a:r>
              <a:rPr lang="en-US" sz="3000" b="1" dirty="0">
                <a:latin typeface="Times New Roman" panose="02020603050405020304" pitchFamily="18" charset="0"/>
                <a:cs typeface="Times New Roman" panose="02020603050405020304" pitchFamily="18" charset="0"/>
              </a:rPr>
              <a:t>. Các </a:t>
            </a:r>
            <a:r>
              <a:rPr lang="en-US" sz="3000" b="1" dirty="0" err="1">
                <a:latin typeface="Times New Roman" panose="02020603050405020304" pitchFamily="18" charset="0"/>
                <a:cs typeface="Times New Roman" panose="02020603050405020304" pitchFamily="18" charset="0"/>
              </a:rPr>
              <a:t>tội</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tham</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nhũng</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tiếp</a:t>
            </a:r>
            <a:r>
              <a:rPr lang="en-US" sz="3000" b="1" dirty="0">
                <a:latin typeface="Times New Roman" panose="02020603050405020304" pitchFamily="18" charset="0"/>
                <a:cs typeface="Times New Roman" panose="02020603050405020304" pitchFamily="18" charset="0"/>
              </a:rPr>
              <a:t>)</a:t>
            </a:r>
            <a:endParaRPr lang="vi-VN" sz="3000" b="1" dirty="0">
              <a:latin typeface="Times New Roman" panose="02020603050405020304" pitchFamily="18"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xmlns="" id="{5FAEF059-2465-D1E1-0AC6-EE5574610C9B}"/>
              </a:ext>
            </a:extLst>
          </p:cNvPr>
          <p:cNvSpPr>
            <a:spLocks noGrp="1"/>
          </p:cNvSpPr>
          <p:nvPr>
            <p:ph idx="1"/>
          </p:nvPr>
        </p:nvSpPr>
        <p:spPr>
          <a:xfrm>
            <a:off x="457200" y="838200"/>
            <a:ext cx="8229600" cy="5287963"/>
          </a:xfrm>
        </p:spPr>
        <p:txBody>
          <a:bodyPr/>
          <a:lstStyle/>
          <a:p>
            <a:pPr algn="just">
              <a:spcBef>
                <a:spcPts val="600"/>
              </a:spcBef>
              <a:spcAft>
                <a:spcPts val="600"/>
              </a:spcAft>
            </a:pPr>
            <a:r>
              <a:rPr lang="en-US" sz="2000" dirty="0" err="1">
                <a:solidFill>
                  <a:schemeClr val="tx2"/>
                </a:solidFill>
                <a:effectLst/>
                <a:latin typeface="Times New Roman" panose="02020603050405020304" pitchFamily="18" charset="0"/>
                <a:cs typeface="Times New Roman" panose="02020603050405020304" pitchFamily="18" charset="0"/>
              </a:rPr>
              <a:t>Ngoài</a:t>
            </a:r>
            <a:r>
              <a:rPr lang="en-US" sz="2000" dirty="0">
                <a:solidFill>
                  <a:schemeClr val="tx2"/>
                </a:solidFill>
                <a:effectLst/>
                <a:latin typeface="Times New Roman" panose="02020603050405020304" pitchFamily="18" charset="0"/>
                <a:cs typeface="Times New Roman" panose="02020603050405020304" pitchFamily="18" charset="0"/>
              </a:rPr>
              <a:t> </a:t>
            </a:r>
            <a:r>
              <a:rPr lang="en-US" sz="2000" dirty="0" err="1">
                <a:solidFill>
                  <a:schemeClr val="tx2"/>
                </a:solidFill>
                <a:effectLst/>
                <a:latin typeface="Times New Roman" panose="02020603050405020304" pitchFamily="18" charset="0"/>
                <a:cs typeface="Times New Roman" panose="02020603050405020304" pitchFamily="18" charset="0"/>
              </a:rPr>
              <a:t>ra</a:t>
            </a:r>
            <a:r>
              <a:rPr lang="en-US" sz="2000" dirty="0">
                <a:solidFill>
                  <a:schemeClr val="tx2"/>
                </a:solidFill>
                <a:effectLst/>
                <a:latin typeface="Times New Roman" panose="02020603050405020304" pitchFamily="18" charset="0"/>
                <a:cs typeface="Times New Roman" panose="02020603050405020304" pitchFamily="18" charset="0"/>
              </a:rPr>
              <a:t>, </a:t>
            </a:r>
            <a:r>
              <a:rPr lang="vi-VN" sz="2000" dirty="0">
                <a:solidFill>
                  <a:schemeClr val="tx2"/>
                </a:solidFill>
                <a:effectLst/>
                <a:latin typeface="Times New Roman" panose="02020603050405020304" pitchFamily="18" charset="0"/>
                <a:cs typeface="Times New Roman" panose="02020603050405020304" pitchFamily="18" charset="0"/>
              </a:rPr>
              <a:t>người có chức vụ, quyền hạn </a:t>
            </a:r>
            <a:r>
              <a:rPr lang="en-US" sz="2000" dirty="0" err="1">
                <a:solidFill>
                  <a:schemeClr val="tx2"/>
                </a:solidFill>
                <a:effectLst/>
                <a:latin typeface="Times New Roman" panose="02020603050405020304" pitchFamily="18" charset="0"/>
                <a:cs typeface="Times New Roman" panose="02020603050405020304" pitchFamily="18" charset="0"/>
              </a:rPr>
              <a:t>có</a:t>
            </a:r>
            <a:r>
              <a:rPr lang="en-US" sz="2000" dirty="0">
                <a:solidFill>
                  <a:schemeClr val="tx2"/>
                </a:solidFill>
                <a:effectLst/>
                <a:latin typeface="Times New Roman" panose="02020603050405020304" pitchFamily="18" charset="0"/>
                <a:cs typeface="Times New Roman" panose="02020603050405020304" pitchFamily="18" charset="0"/>
              </a:rPr>
              <a:t> </a:t>
            </a:r>
            <a:r>
              <a:rPr lang="en-US" sz="2000" dirty="0" err="1">
                <a:solidFill>
                  <a:schemeClr val="tx2"/>
                </a:solidFill>
                <a:effectLst/>
                <a:latin typeface="Times New Roman" panose="02020603050405020304" pitchFamily="18" charset="0"/>
                <a:cs typeface="Times New Roman" panose="02020603050405020304" pitchFamily="18" charset="0"/>
              </a:rPr>
              <a:t>thể</a:t>
            </a:r>
            <a:r>
              <a:rPr lang="en-US" sz="2000" dirty="0">
                <a:solidFill>
                  <a:schemeClr val="tx2"/>
                </a:solidFill>
                <a:effectLst/>
                <a:latin typeface="Times New Roman" panose="02020603050405020304" pitchFamily="18" charset="0"/>
                <a:cs typeface="Times New Roman" panose="02020603050405020304" pitchFamily="18" charset="0"/>
              </a:rPr>
              <a:t> </a:t>
            </a:r>
            <a:r>
              <a:rPr lang="en-US" sz="2000" dirty="0" err="1">
                <a:solidFill>
                  <a:schemeClr val="tx2"/>
                </a:solidFill>
                <a:effectLst/>
                <a:latin typeface="Times New Roman" panose="02020603050405020304" pitchFamily="18" charset="0"/>
                <a:cs typeface="Times New Roman" panose="02020603050405020304" pitchFamily="18" charset="0"/>
              </a:rPr>
              <a:t>thực</a:t>
            </a:r>
            <a:r>
              <a:rPr lang="en-US" sz="2000" dirty="0">
                <a:solidFill>
                  <a:schemeClr val="tx2"/>
                </a:solidFill>
                <a:effectLst/>
                <a:latin typeface="Times New Roman" panose="02020603050405020304" pitchFamily="18" charset="0"/>
                <a:cs typeface="Times New Roman" panose="02020603050405020304" pitchFamily="18" charset="0"/>
              </a:rPr>
              <a:t> </a:t>
            </a:r>
            <a:r>
              <a:rPr lang="en-US" sz="2000" dirty="0" err="1">
                <a:solidFill>
                  <a:schemeClr val="tx2"/>
                </a:solidFill>
                <a:effectLst/>
                <a:latin typeface="Times New Roman" panose="02020603050405020304" pitchFamily="18" charset="0"/>
                <a:cs typeface="Times New Roman" panose="02020603050405020304" pitchFamily="18" charset="0"/>
              </a:rPr>
              <a:t>hiện</a:t>
            </a:r>
            <a:r>
              <a:rPr lang="en-US" sz="2000" dirty="0">
                <a:solidFill>
                  <a:schemeClr val="tx2"/>
                </a:solidFill>
                <a:effectLst/>
                <a:latin typeface="Times New Roman" panose="02020603050405020304" pitchFamily="18" charset="0"/>
                <a:cs typeface="Times New Roman" panose="02020603050405020304" pitchFamily="18" charset="0"/>
              </a:rPr>
              <a:t> </a:t>
            </a:r>
            <a:r>
              <a:rPr lang="en-US" sz="2000" dirty="0" err="1">
                <a:solidFill>
                  <a:schemeClr val="tx2"/>
                </a:solidFill>
                <a:effectLst/>
                <a:latin typeface="Times New Roman" panose="02020603050405020304" pitchFamily="18" charset="0"/>
                <a:cs typeface="Times New Roman" panose="02020603050405020304" pitchFamily="18" charset="0"/>
              </a:rPr>
              <a:t>một</a:t>
            </a:r>
            <a:r>
              <a:rPr lang="en-US" sz="2000" dirty="0">
                <a:solidFill>
                  <a:schemeClr val="tx2"/>
                </a:solidFill>
                <a:effectLst/>
                <a:latin typeface="Times New Roman" panose="02020603050405020304" pitchFamily="18" charset="0"/>
                <a:cs typeface="Times New Roman" panose="02020603050405020304" pitchFamily="18" charset="0"/>
              </a:rPr>
              <a:t> </a:t>
            </a:r>
            <a:r>
              <a:rPr lang="en-US" sz="2000" dirty="0" err="1">
                <a:solidFill>
                  <a:schemeClr val="tx2"/>
                </a:solidFill>
                <a:effectLst/>
                <a:latin typeface="Times New Roman" panose="02020603050405020304" pitchFamily="18" charset="0"/>
                <a:cs typeface="Times New Roman" panose="02020603050405020304" pitchFamily="18" charset="0"/>
              </a:rPr>
              <a:t>số</a:t>
            </a:r>
            <a:r>
              <a:rPr lang="en-US" sz="2000" dirty="0">
                <a:solidFill>
                  <a:schemeClr val="tx2"/>
                </a:solidFill>
                <a:effectLst/>
                <a:latin typeface="Times New Roman" panose="02020603050405020304" pitchFamily="18" charset="0"/>
                <a:cs typeface="Times New Roman" panose="02020603050405020304" pitchFamily="18" charset="0"/>
              </a:rPr>
              <a:t> </a:t>
            </a:r>
            <a:r>
              <a:rPr lang="en-US" sz="2000" dirty="0" err="1">
                <a:solidFill>
                  <a:schemeClr val="tx2"/>
                </a:solidFill>
                <a:effectLst/>
                <a:latin typeface="Times New Roman" panose="02020603050405020304" pitchFamily="18" charset="0"/>
                <a:cs typeface="Times New Roman" panose="02020603050405020304" pitchFamily="18" charset="0"/>
              </a:rPr>
              <a:t>hành</a:t>
            </a:r>
            <a:r>
              <a:rPr lang="en-US" sz="2000" dirty="0">
                <a:solidFill>
                  <a:schemeClr val="tx2"/>
                </a:solidFill>
                <a:effectLst/>
                <a:latin typeface="Times New Roman" panose="02020603050405020304" pitchFamily="18" charset="0"/>
                <a:cs typeface="Times New Roman" panose="02020603050405020304" pitchFamily="18" charset="0"/>
              </a:rPr>
              <a:t> vi </a:t>
            </a:r>
            <a:r>
              <a:rPr lang="en-US" sz="2000" dirty="0" err="1">
                <a:solidFill>
                  <a:schemeClr val="tx2"/>
                </a:solidFill>
                <a:effectLst/>
                <a:latin typeface="Times New Roman" panose="02020603050405020304" pitchFamily="18" charset="0"/>
                <a:cs typeface="Times New Roman" panose="02020603050405020304" pitchFamily="18" charset="0"/>
              </a:rPr>
              <a:t>sau</a:t>
            </a:r>
            <a:r>
              <a:rPr lang="en-US" sz="2000" dirty="0">
                <a:solidFill>
                  <a:schemeClr val="tx2"/>
                </a:solidFill>
                <a:effectLst/>
                <a:latin typeface="Times New Roman" panose="02020603050405020304" pitchFamily="18" charset="0"/>
                <a:cs typeface="Times New Roman" panose="02020603050405020304" pitchFamily="18" charset="0"/>
              </a:rPr>
              <a:t>:</a:t>
            </a:r>
            <a:endParaRPr lang="en-US" sz="2000" b="0" i="0" dirty="0">
              <a:solidFill>
                <a:schemeClr val="tx2"/>
              </a:solidFill>
              <a:effectLst/>
              <a:latin typeface="Times New Roman" panose="02020603050405020304" pitchFamily="18" charset="0"/>
              <a:cs typeface="Times New Roman" panose="02020603050405020304" pitchFamily="18" charset="0"/>
            </a:endParaRPr>
          </a:p>
          <a:p>
            <a:pPr lvl="1" algn="just">
              <a:spcBef>
                <a:spcPts val="600"/>
              </a:spcBef>
              <a:spcAft>
                <a:spcPts val="600"/>
              </a:spcAft>
            </a:pPr>
            <a:r>
              <a:rPr lang="vi-VN" sz="2000" b="0" i="1" dirty="0">
                <a:solidFill>
                  <a:schemeClr val="tx2"/>
                </a:solidFill>
                <a:effectLst/>
                <a:latin typeface="Times New Roman" panose="02020603050405020304" pitchFamily="18" charset="0"/>
                <a:cs typeface="Times New Roman" panose="02020603050405020304" pitchFamily="18" charset="0"/>
              </a:rPr>
              <a:t>Tội đưa hối lộ</a:t>
            </a:r>
            <a:r>
              <a:rPr lang="en-US" sz="2000" dirty="0">
                <a:solidFill>
                  <a:schemeClr val="tx2"/>
                </a:solidFill>
                <a:effectLst/>
                <a:latin typeface="Times New Roman" panose="02020603050405020304" pitchFamily="18" charset="0"/>
                <a:cs typeface="Times New Roman" panose="02020603050405020304" pitchFamily="18" charset="0"/>
              </a:rPr>
              <a:t>: </a:t>
            </a:r>
            <a:r>
              <a:rPr lang="vi-VN" sz="2000" dirty="0">
                <a:solidFill>
                  <a:schemeClr val="tx2"/>
                </a:solidFill>
                <a:effectLst/>
                <a:latin typeface="Times New Roman" panose="02020603050405020304" pitchFamily="18" charset="0"/>
                <a:cs typeface="Times New Roman" panose="02020603050405020304" pitchFamily="18" charset="0"/>
              </a:rPr>
              <a:t>Đưa hối lộ là hành vi của người có chức vụ, quyền hạn trong cơ quan, tổ chức, đơn vị hoặc địa phương vì vụ lợi mà trực tiếp hoặc qua trung gian đã hoặc sẽ đưa tiền, tài sản hoặc lợi ích vật chất khác dưới bất kỳ hình thức nào có giá trị</a:t>
            </a:r>
            <a:r>
              <a:rPr lang="en-US" sz="2000" dirty="0">
                <a:solidFill>
                  <a:schemeClr val="tx2"/>
                </a:solidFill>
                <a:effectLst/>
                <a:latin typeface="Times New Roman" panose="02020603050405020304" pitchFamily="18" charset="0"/>
                <a:cs typeface="Times New Roman" panose="02020603050405020304" pitchFamily="18" charset="0"/>
              </a:rPr>
              <a:t> </a:t>
            </a:r>
            <a:r>
              <a:rPr lang="en-US" sz="2000" dirty="0" err="1">
                <a:solidFill>
                  <a:schemeClr val="tx2"/>
                </a:solidFill>
                <a:effectLst/>
                <a:latin typeface="Times New Roman" panose="02020603050405020304" pitchFamily="18" charset="0"/>
                <a:cs typeface="Times New Roman" panose="02020603050405020304" pitchFamily="18" charset="0"/>
              </a:rPr>
              <a:t>từ</a:t>
            </a:r>
            <a:r>
              <a:rPr lang="vi-VN" sz="2000" dirty="0">
                <a:solidFill>
                  <a:schemeClr val="tx2"/>
                </a:solidFill>
                <a:effectLst/>
                <a:latin typeface="Times New Roman" panose="02020603050405020304" pitchFamily="18" charset="0"/>
                <a:cs typeface="Times New Roman" panose="02020603050405020304" pitchFamily="18" charset="0"/>
              </a:rPr>
              <a:t> 2 triệu đồng cho người có chức vụ quyền hạn để người đó làm hoặc không làm một việc cho mình (cá nhân, cơ quan, đơn vị hoặc địa phương mình)</a:t>
            </a:r>
            <a:r>
              <a:rPr lang="en-US" sz="2000" dirty="0">
                <a:solidFill>
                  <a:schemeClr val="tx2"/>
                </a:solidFill>
                <a:effectLst/>
                <a:latin typeface="Times New Roman" panose="02020603050405020304" pitchFamily="18" charset="0"/>
                <a:cs typeface="Times New Roman" panose="02020603050405020304" pitchFamily="18" charset="0"/>
              </a:rPr>
              <a:t>.</a:t>
            </a:r>
          </a:p>
          <a:p>
            <a:pPr lvl="1" algn="just">
              <a:spcBef>
                <a:spcPts val="600"/>
              </a:spcBef>
              <a:spcAft>
                <a:spcPts val="600"/>
              </a:spcAft>
            </a:pPr>
            <a:r>
              <a:rPr lang="en-US" sz="2000" i="1" dirty="0" err="1">
                <a:solidFill>
                  <a:schemeClr val="tx2"/>
                </a:solidFill>
                <a:effectLst/>
                <a:latin typeface="Times New Roman" panose="02020603050405020304" pitchFamily="18" charset="0"/>
                <a:cs typeface="Times New Roman" panose="02020603050405020304" pitchFamily="18" charset="0"/>
              </a:rPr>
              <a:t>Tội</a:t>
            </a:r>
            <a:r>
              <a:rPr lang="en-US" sz="2000" i="1" dirty="0">
                <a:solidFill>
                  <a:schemeClr val="tx2"/>
                </a:solidFill>
                <a:effectLst/>
                <a:latin typeface="Times New Roman" panose="02020603050405020304" pitchFamily="18" charset="0"/>
                <a:cs typeface="Times New Roman" panose="02020603050405020304" pitchFamily="18" charset="0"/>
              </a:rPr>
              <a:t> </a:t>
            </a:r>
            <a:r>
              <a:rPr lang="en-US" sz="2000" i="1" dirty="0" err="1">
                <a:solidFill>
                  <a:schemeClr val="tx2"/>
                </a:solidFill>
                <a:effectLst/>
                <a:latin typeface="Times New Roman" panose="02020603050405020304" pitchFamily="18" charset="0"/>
                <a:cs typeface="Times New Roman" panose="02020603050405020304" pitchFamily="18" charset="0"/>
              </a:rPr>
              <a:t>môi</a:t>
            </a:r>
            <a:r>
              <a:rPr lang="en-US" sz="2000" i="1" dirty="0">
                <a:solidFill>
                  <a:schemeClr val="tx2"/>
                </a:solidFill>
                <a:effectLst/>
                <a:latin typeface="Times New Roman" panose="02020603050405020304" pitchFamily="18" charset="0"/>
                <a:cs typeface="Times New Roman" panose="02020603050405020304" pitchFamily="18" charset="0"/>
              </a:rPr>
              <a:t> </a:t>
            </a:r>
            <a:r>
              <a:rPr lang="en-US" sz="2000" i="1" dirty="0" err="1">
                <a:solidFill>
                  <a:schemeClr val="tx2"/>
                </a:solidFill>
                <a:effectLst/>
                <a:latin typeface="Times New Roman" panose="02020603050405020304" pitchFamily="18" charset="0"/>
                <a:cs typeface="Times New Roman" panose="02020603050405020304" pitchFamily="18" charset="0"/>
              </a:rPr>
              <a:t>giới</a:t>
            </a:r>
            <a:r>
              <a:rPr lang="en-US" sz="2000" i="1" dirty="0">
                <a:solidFill>
                  <a:schemeClr val="tx2"/>
                </a:solidFill>
                <a:effectLst/>
                <a:latin typeface="Times New Roman" panose="02020603050405020304" pitchFamily="18" charset="0"/>
                <a:cs typeface="Times New Roman" panose="02020603050405020304" pitchFamily="18" charset="0"/>
              </a:rPr>
              <a:t> </a:t>
            </a:r>
            <a:r>
              <a:rPr lang="en-US" sz="2000" i="1" dirty="0" err="1">
                <a:solidFill>
                  <a:schemeClr val="tx2"/>
                </a:solidFill>
                <a:effectLst/>
                <a:latin typeface="Times New Roman" panose="02020603050405020304" pitchFamily="18" charset="0"/>
                <a:cs typeface="Times New Roman" panose="02020603050405020304" pitchFamily="18" charset="0"/>
              </a:rPr>
              <a:t>hối</a:t>
            </a:r>
            <a:r>
              <a:rPr lang="en-US" sz="2000" i="1" dirty="0">
                <a:solidFill>
                  <a:schemeClr val="tx2"/>
                </a:solidFill>
                <a:effectLst/>
                <a:latin typeface="Times New Roman" panose="02020603050405020304" pitchFamily="18" charset="0"/>
                <a:cs typeface="Times New Roman" panose="02020603050405020304" pitchFamily="18" charset="0"/>
              </a:rPr>
              <a:t> </a:t>
            </a:r>
            <a:r>
              <a:rPr lang="en-US" sz="2000" i="1" dirty="0" err="1">
                <a:solidFill>
                  <a:schemeClr val="tx2"/>
                </a:solidFill>
                <a:effectLst/>
                <a:latin typeface="Times New Roman" panose="02020603050405020304" pitchFamily="18" charset="0"/>
                <a:cs typeface="Times New Roman" panose="02020603050405020304" pitchFamily="18" charset="0"/>
              </a:rPr>
              <a:t>lộ</a:t>
            </a:r>
            <a:r>
              <a:rPr lang="en-US" sz="2000" dirty="0">
                <a:solidFill>
                  <a:schemeClr val="tx2"/>
                </a:solidFill>
                <a:effectLst/>
                <a:latin typeface="Times New Roman" panose="02020603050405020304" pitchFamily="18" charset="0"/>
                <a:cs typeface="Times New Roman" panose="02020603050405020304" pitchFamily="18" charset="0"/>
              </a:rPr>
              <a:t>: </a:t>
            </a:r>
            <a:r>
              <a:rPr lang="vi-VN" sz="2000" dirty="0">
                <a:solidFill>
                  <a:schemeClr val="tx2"/>
                </a:solidFill>
                <a:effectLst/>
                <a:latin typeface="Times New Roman" panose="02020603050405020304" pitchFamily="18" charset="0"/>
                <a:cs typeface="Times New Roman" panose="02020603050405020304" pitchFamily="18" charset="0"/>
              </a:rPr>
              <a:t>Môi giới hối lộ là hành vi của người (trung gian) theo yêu cầu của người đưa hối lộ hoặc người nhận hối lộ tạo điều kiện cho việc </a:t>
            </a:r>
            <a:r>
              <a:rPr lang="vi-VN" sz="2000" dirty="0" err="1">
                <a:solidFill>
                  <a:schemeClr val="tx2"/>
                </a:solidFill>
                <a:effectLst/>
                <a:latin typeface="Times New Roman" panose="02020603050405020304" pitchFamily="18" charset="0"/>
                <a:cs typeface="Times New Roman" panose="02020603050405020304" pitchFamily="18" charset="0"/>
              </a:rPr>
              <a:t>thoả</a:t>
            </a:r>
            <a:r>
              <a:rPr lang="vi-VN" sz="2000" dirty="0">
                <a:solidFill>
                  <a:schemeClr val="tx2"/>
                </a:solidFill>
                <a:effectLst/>
                <a:latin typeface="Times New Roman" panose="02020603050405020304" pitchFamily="18" charset="0"/>
                <a:cs typeface="Times New Roman" panose="02020603050405020304" pitchFamily="18" charset="0"/>
              </a:rPr>
              <a:t> thuận hối lộ giữa hai bên hoặc giúp sức thực hiện sự </a:t>
            </a:r>
            <a:r>
              <a:rPr lang="vi-VN" sz="2000" dirty="0" err="1">
                <a:solidFill>
                  <a:schemeClr val="tx2"/>
                </a:solidFill>
                <a:effectLst/>
                <a:latin typeface="Times New Roman" panose="02020603050405020304" pitchFamily="18" charset="0"/>
                <a:cs typeface="Times New Roman" panose="02020603050405020304" pitchFamily="18" charset="0"/>
              </a:rPr>
              <a:t>thoả</a:t>
            </a:r>
            <a:r>
              <a:rPr lang="vi-VN" sz="2000" dirty="0">
                <a:solidFill>
                  <a:schemeClr val="tx2"/>
                </a:solidFill>
                <a:effectLst/>
                <a:latin typeface="Times New Roman" panose="02020603050405020304" pitchFamily="18" charset="0"/>
                <a:cs typeface="Times New Roman" panose="02020603050405020304" pitchFamily="18" charset="0"/>
              </a:rPr>
              <a:t> thuận hối lộ giữa hai bên.</a:t>
            </a:r>
          </a:p>
        </p:txBody>
      </p:sp>
    </p:spTree>
    <p:extLst>
      <p:ext uri="{BB962C8B-B14F-4D97-AF65-F5344CB8AC3E}">
        <p14:creationId xmlns:p14="http://schemas.microsoft.com/office/powerpoint/2010/main" xmlns="" val="1711965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DFF5B8C-9C00-9A11-79C2-58AE624416EA}"/>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xmlns="" id="{3F51E3E9-9F2E-CEE8-A1AB-844122FF3CBA}"/>
              </a:ext>
            </a:extLst>
          </p:cNvPr>
          <p:cNvSpPr>
            <a:spLocks noGrp="1"/>
          </p:cNvSpPr>
          <p:nvPr>
            <p:ph type="title"/>
          </p:nvPr>
        </p:nvSpPr>
        <p:spPr>
          <a:xfrm>
            <a:off x="457200" y="274638"/>
            <a:ext cx="8229600" cy="411162"/>
          </a:xfrm>
        </p:spPr>
        <p:txBody>
          <a:bodyPr/>
          <a:lstStyle/>
          <a:p>
            <a:pPr algn="ctr"/>
            <a:r>
              <a:rPr lang="en-US" sz="2000" dirty="0">
                <a:effectLst/>
                <a:latin typeface="Times New Roman" panose="02020603050405020304" pitchFamily="18" charset="0"/>
                <a:cs typeface="Times New Roman" panose="02020603050405020304" pitchFamily="18" charset="0"/>
              </a:rPr>
              <a:t>4</a:t>
            </a:r>
            <a:r>
              <a:rPr lang="en-US" sz="2000" b="1" dirty="0">
                <a:effectLst/>
                <a:latin typeface="Times New Roman" panose="02020603050405020304" pitchFamily="18" charset="0"/>
                <a:cs typeface="Times New Roman" panose="02020603050405020304" pitchFamily="18" charset="0"/>
              </a:rPr>
              <a:t>. Nguyên </a:t>
            </a:r>
            <a:r>
              <a:rPr lang="en-US" sz="2000" b="1" dirty="0" err="1">
                <a:effectLst/>
                <a:latin typeface="Times New Roman" panose="02020603050405020304" pitchFamily="18" charset="0"/>
                <a:cs typeface="Times New Roman" panose="02020603050405020304" pitchFamily="18" charset="0"/>
              </a:rPr>
              <a:t>nhân</a:t>
            </a:r>
            <a:r>
              <a:rPr lang="en-US" sz="2000" b="1" dirty="0">
                <a:effectLst/>
                <a:latin typeface="Times New Roman" panose="02020603050405020304" pitchFamily="18" charset="0"/>
                <a:cs typeface="Times New Roman" panose="02020603050405020304" pitchFamily="18" charset="0"/>
              </a:rPr>
              <a:t> </a:t>
            </a:r>
            <a:r>
              <a:rPr lang="en-US" sz="2000" b="1" dirty="0" err="1">
                <a:effectLst/>
                <a:latin typeface="Times New Roman" panose="02020603050405020304" pitchFamily="18" charset="0"/>
                <a:cs typeface="Times New Roman" panose="02020603050405020304" pitchFamily="18" charset="0"/>
              </a:rPr>
              <a:t>của</a:t>
            </a:r>
            <a:r>
              <a:rPr lang="en-US" sz="2000" b="1" dirty="0">
                <a:effectLst/>
                <a:latin typeface="Times New Roman" panose="02020603050405020304" pitchFamily="18" charset="0"/>
                <a:cs typeface="Times New Roman" panose="02020603050405020304" pitchFamily="18" charset="0"/>
              </a:rPr>
              <a:t> </a:t>
            </a:r>
            <a:r>
              <a:rPr lang="en-US" sz="2000" b="1" dirty="0" err="1">
                <a:effectLst/>
                <a:latin typeface="Times New Roman" panose="02020603050405020304" pitchFamily="18" charset="0"/>
                <a:cs typeface="Times New Roman" panose="02020603050405020304" pitchFamily="18" charset="0"/>
              </a:rPr>
              <a:t>tham</a:t>
            </a:r>
            <a:r>
              <a:rPr lang="en-US" sz="2000" b="1" dirty="0">
                <a:effectLst/>
                <a:latin typeface="Times New Roman" panose="02020603050405020304" pitchFamily="18" charset="0"/>
                <a:cs typeface="Times New Roman" panose="02020603050405020304" pitchFamily="18" charset="0"/>
              </a:rPr>
              <a:t> </a:t>
            </a:r>
            <a:r>
              <a:rPr lang="en-US" sz="2000" b="1" dirty="0" err="1">
                <a:effectLst/>
                <a:latin typeface="Times New Roman" panose="02020603050405020304" pitchFamily="18" charset="0"/>
                <a:cs typeface="Times New Roman" panose="02020603050405020304" pitchFamily="18" charset="0"/>
              </a:rPr>
              <a:t>nhũng</a:t>
            </a:r>
            <a:endParaRPr lang="vi-VN" sz="2000" b="1" dirty="0">
              <a:effectLst/>
              <a:latin typeface="Times New Roman" panose="02020603050405020304" pitchFamily="18"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xmlns="" id="{F69308DE-AAF5-45BF-ADDD-CE98E2861425}"/>
              </a:ext>
            </a:extLst>
          </p:cNvPr>
          <p:cNvSpPr>
            <a:spLocks noGrp="1"/>
          </p:cNvSpPr>
          <p:nvPr>
            <p:ph idx="1"/>
          </p:nvPr>
        </p:nvSpPr>
        <p:spPr>
          <a:xfrm>
            <a:off x="457200" y="980728"/>
            <a:ext cx="8229600" cy="5145435"/>
          </a:xfrm>
        </p:spPr>
        <p:txBody>
          <a:bodyPr/>
          <a:lstStyle/>
          <a:p>
            <a:pPr algn="just">
              <a:spcBef>
                <a:spcPts val="600"/>
              </a:spcBef>
              <a:spcAft>
                <a:spcPts val="600"/>
              </a:spcAft>
            </a:pPr>
            <a:r>
              <a:rPr lang="vi-VN" sz="2000" dirty="0">
                <a:effectLst/>
                <a:latin typeface="Times New Roman" panose="02020603050405020304" pitchFamily="18" charset="0"/>
                <a:cs typeface="Times New Roman" panose="02020603050405020304" pitchFamily="18" charset="0"/>
              </a:rPr>
              <a:t>Những hạn chế trong chính sách, pháp luật</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thiếu</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hoàn</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thiện</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chồng</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chéo</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mâu</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thuẫn</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bất</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cập</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thiếu</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minh</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bạch</a:t>
            </a:r>
            <a:r>
              <a:rPr lang="en-US" sz="2000" dirty="0">
                <a:effectLst/>
                <a:latin typeface="Times New Roman" panose="02020603050405020304" pitchFamily="18" charset="0"/>
                <a:cs typeface="Times New Roman" panose="02020603050405020304" pitchFamily="18" charset="0"/>
              </a:rPr>
              <a:t>…).</a:t>
            </a:r>
          </a:p>
          <a:p>
            <a:pPr algn="just">
              <a:spcBef>
                <a:spcPts val="600"/>
              </a:spcBef>
              <a:spcAft>
                <a:spcPts val="600"/>
              </a:spcAft>
            </a:pPr>
            <a:r>
              <a:rPr lang="vi-VN" sz="2000" dirty="0">
                <a:effectLst/>
                <a:latin typeface="Times New Roman" panose="02020603050405020304" pitchFamily="18" charset="0"/>
                <a:cs typeface="Times New Roman" panose="02020603050405020304" pitchFamily="18" charset="0"/>
              </a:rPr>
              <a:t>Những hạn chế trong quản lí, điều hành nền kinh tế và trong hoạt động của các cơ quan Nhà nước, tổ chức xã hội</a:t>
            </a:r>
            <a:r>
              <a:rPr lang="en-US" sz="2000" dirty="0">
                <a:effectLst/>
                <a:latin typeface="Times New Roman" panose="02020603050405020304" pitchFamily="18" charset="0"/>
                <a:cs typeface="Times New Roman" panose="02020603050405020304" pitchFamily="18" charset="0"/>
              </a:rPr>
              <a:t>.</a:t>
            </a:r>
          </a:p>
          <a:p>
            <a:pPr algn="just">
              <a:spcBef>
                <a:spcPts val="600"/>
              </a:spcBef>
              <a:spcAft>
                <a:spcPts val="600"/>
              </a:spcAft>
            </a:pPr>
            <a:r>
              <a:rPr lang="vi-VN" sz="2000" dirty="0">
                <a:effectLst/>
                <a:latin typeface="Times New Roman" panose="02020603050405020304" pitchFamily="18" charset="0"/>
                <a:cs typeface="Times New Roman" panose="02020603050405020304" pitchFamily="18" charset="0"/>
              </a:rPr>
              <a:t>Những hạn chế trong việc phát hiện và xử lí tham nhũng</a:t>
            </a:r>
            <a:r>
              <a:rPr lang="en-US" sz="2000" dirty="0">
                <a:effectLst/>
                <a:latin typeface="Times New Roman" panose="02020603050405020304" pitchFamily="18" charset="0"/>
                <a:cs typeface="Times New Roman" panose="02020603050405020304" pitchFamily="18" charset="0"/>
              </a:rPr>
              <a:t>.</a:t>
            </a:r>
          </a:p>
          <a:p>
            <a:pPr algn="just">
              <a:spcBef>
                <a:spcPts val="600"/>
              </a:spcBef>
              <a:spcAft>
                <a:spcPts val="600"/>
              </a:spcAft>
            </a:pPr>
            <a:r>
              <a:rPr lang="vi-VN" sz="2000" dirty="0">
                <a:effectLst/>
                <a:latin typeface="Times New Roman" panose="02020603050405020304" pitchFamily="18" charset="0"/>
                <a:cs typeface="Times New Roman" panose="02020603050405020304" pitchFamily="18" charset="0"/>
              </a:rPr>
              <a:t>Những hạn chế trong nhận thức, tư tưởng của cán bộ, công chức cũng như trong hoạt động bổ nhiệm, luân chuyển cán bộ</a:t>
            </a:r>
            <a:r>
              <a:rPr lang="en-US" sz="2000" dirty="0">
                <a:effectLst/>
                <a:latin typeface="Times New Roman" panose="02020603050405020304" pitchFamily="18" charset="0"/>
                <a:cs typeface="Times New Roman" panose="02020603050405020304" pitchFamily="18" charset="0"/>
              </a:rPr>
              <a:t>.</a:t>
            </a:r>
          </a:p>
          <a:p>
            <a:pPr algn="just">
              <a:spcBef>
                <a:spcPts val="600"/>
              </a:spcBef>
              <a:spcAft>
                <a:spcPts val="600"/>
              </a:spcAft>
            </a:pPr>
            <a:r>
              <a:rPr lang="vi-VN" sz="2000" dirty="0">
                <a:effectLst/>
                <a:latin typeface="Times New Roman" panose="02020603050405020304" pitchFamily="18" charset="0"/>
                <a:cs typeface="Times New Roman" panose="02020603050405020304" pitchFamily="18" charset="0"/>
              </a:rPr>
              <a:t>Những hạn chế trong công tác tuyên truyền, phổ biến giáo dục pháp luật về tham nhũng</a:t>
            </a:r>
            <a:r>
              <a:rPr lang="en-US" sz="2000" dirty="0">
                <a:effectLst/>
                <a:latin typeface="Times New Roman" panose="02020603050405020304" pitchFamily="18" charset="0"/>
                <a:cs typeface="Times New Roman" panose="02020603050405020304" pitchFamily="18" charset="0"/>
              </a:rPr>
              <a:t>.</a:t>
            </a:r>
            <a:endParaRPr lang="vi-VN"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734616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44EAD7-522C-9815-765B-0850FF3BD473}"/>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xmlns="" id="{654C1A40-986B-6ADF-7C63-9A5C21B90C55}"/>
              </a:ext>
            </a:extLst>
          </p:cNvPr>
          <p:cNvSpPr>
            <a:spLocks noGrp="1"/>
          </p:cNvSpPr>
          <p:nvPr>
            <p:ph type="title"/>
          </p:nvPr>
        </p:nvSpPr>
        <p:spPr>
          <a:xfrm>
            <a:off x="457200" y="274638"/>
            <a:ext cx="8229600" cy="457199"/>
          </a:xfrm>
        </p:spPr>
        <p:txBody>
          <a:bodyPr>
            <a:normAutofit fontScale="90000"/>
          </a:bodyPr>
          <a:lstStyle/>
          <a:p>
            <a:pPr algn="ctr"/>
            <a:r>
              <a:rPr lang="en-US" dirty="0">
                <a:effectLst/>
                <a:latin typeface="Times New Roman" panose="02020603050405020304" pitchFamily="18" charset="0"/>
                <a:cs typeface="Times New Roman" panose="02020603050405020304" pitchFamily="18" charset="0"/>
              </a:rPr>
              <a:t>5</a:t>
            </a:r>
            <a:r>
              <a:rPr lang="en-US" sz="3000" b="1" dirty="0">
                <a:effectLst/>
                <a:latin typeface="Times New Roman" panose="02020603050405020304" pitchFamily="18" charset="0"/>
                <a:cs typeface="Times New Roman" panose="02020603050405020304" pitchFamily="18" charset="0"/>
              </a:rPr>
              <a:t>. </a:t>
            </a:r>
            <a:r>
              <a:rPr lang="vi-VN" sz="3000" b="1" dirty="0">
                <a:effectLst/>
                <a:latin typeface="Times New Roman" panose="02020603050405020304" pitchFamily="18" charset="0"/>
                <a:cs typeface="Times New Roman" panose="02020603050405020304" pitchFamily="18" charset="0"/>
              </a:rPr>
              <a:t>Tác hại của </a:t>
            </a:r>
            <a:r>
              <a:rPr lang="en-US" sz="3000" b="1" dirty="0">
                <a:effectLst/>
                <a:latin typeface="Times New Roman" panose="02020603050405020304" pitchFamily="18" charset="0"/>
                <a:cs typeface="Times New Roman" panose="02020603050405020304" pitchFamily="18" charset="0"/>
              </a:rPr>
              <a:t>t</a:t>
            </a:r>
            <a:r>
              <a:rPr lang="vi-VN" sz="3000" b="1" dirty="0">
                <a:effectLst/>
                <a:latin typeface="Times New Roman" panose="02020603050405020304" pitchFamily="18" charset="0"/>
                <a:cs typeface="Times New Roman" panose="02020603050405020304" pitchFamily="18" charset="0"/>
              </a:rPr>
              <a:t>ham nhũng</a:t>
            </a:r>
          </a:p>
        </p:txBody>
      </p:sp>
      <p:sp>
        <p:nvSpPr>
          <p:cNvPr id="3" name="Chỗ dành sẵn cho Nội dung 2">
            <a:extLst>
              <a:ext uri="{FF2B5EF4-FFF2-40B4-BE49-F238E27FC236}">
                <a16:creationId xmlns:a16="http://schemas.microsoft.com/office/drawing/2014/main" xmlns="" id="{591C03A3-63C7-D8AA-A39C-BDD348B9F6E7}"/>
              </a:ext>
            </a:extLst>
          </p:cNvPr>
          <p:cNvSpPr>
            <a:spLocks noGrp="1"/>
          </p:cNvSpPr>
          <p:nvPr>
            <p:ph idx="1"/>
          </p:nvPr>
        </p:nvSpPr>
        <p:spPr>
          <a:xfrm>
            <a:off x="457200" y="990600"/>
            <a:ext cx="8229600" cy="5135563"/>
          </a:xfrm>
        </p:spPr>
        <p:txBody>
          <a:bodyPr/>
          <a:lstStyle/>
          <a:p>
            <a:pPr algn="just">
              <a:spcBef>
                <a:spcPts val="600"/>
              </a:spcBef>
              <a:spcAft>
                <a:spcPts val="600"/>
              </a:spcAft>
            </a:pPr>
            <a:r>
              <a:rPr lang="vi-VN" sz="2000" i="1" dirty="0">
                <a:effectLst/>
                <a:latin typeface="Times New Roman" panose="02020603050405020304" pitchFamily="18" charset="0"/>
                <a:cs typeface="Times New Roman" panose="02020603050405020304" pitchFamily="18" charset="0"/>
              </a:rPr>
              <a:t>Tác hại về chính trị</a:t>
            </a:r>
            <a:r>
              <a:rPr lang="en-US" sz="2000" dirty="0">
                <a:effectLst/>
                <a:latin typeface="Times New Roman" panose="02020603050405020304" pitchFamily="18" charset="0"/>
                <a:cs typeface="Times New Roman" panose="02020603050405020304" pitchFamily="18" charset="0"/>
              </a:rPr>
              <a:t>: </a:t>
            </a:r>
            <a:r>
              <a:rPr lang="vi-VN" sz="2000" dirty="0">
                <a:effectLst/>
                <a:latin typeface="Times New Roman" panose="02020603050405020304" pitchFamily="18" charset="0"/>
                <a:cs typeface="Times New Roman" panose="02020603050405020304" pitchFamily="18" charset="0"/>
              </a:rPr>
              <a:t>Tham nhũng cũng làm ảnh hưởng đến uy tín của quốc gia trên trường quốc tế.</a:t>
            </a:r>
            <a:r>
              <a:rPr lang="en-US" sz="2000" dirty="0">
                <a:effectLst/>
                <a:latin typeface="Times New Roman" panose="02020603050405020304" pitchFamily="18" charset="0"/>
                <a:cs typeface="Times New Roman" panose="02020603050405020304" pitchFamily="18" charset="0"/>
              </a:rPr>
              <a:t> T</a:t>
            </a:r>
            <a:r>
              <a:rPr lang="vi-VN" sz="2000" dirty="0">
                <a:effectLst/>
                <a:latin typeface="Times New Roman" panose="02020603050405020304" pitchFamily="18" charset="0"/>
                <a:cs typeface="Times New Roman" panose="02020603050405020304" pitchFamily="18" charset="0"/>
              </a:rPr>
              <a:t>ham nhũng làm mất lòng tin, gây nản chí các nhà đầu tư nước ngoài</a:t>
            </a:r>
            <a:r>
              <a:rPr lang="en-US" sz="2000" dirty="0">
                <a:effectLst/>
                <a:latin typeface="Times New Roman" panose="02020603050405020304" pitchFamily="18" charset="0"/>
                <a:cs typeface="Times New Roman" panose="02020603050405020304" pitchFamily="18" charset="0"/>
              </a:rPr>
              <a:t>…</a:t>
            </a:r>
          </a:p>
          <a:p>
            <a:pPr algn="just">
              <a:spcBef>
                <a:spcPts val="600"/>
              </a:spcBef>
              <a:spcAft>
                <a:spcPts val="600"/>
              </a:spcAft>
            </a:pPr>
            <a:r>
              <a:rPr lang="vi-VN" sz="2000" i="1" dirty="0">
                <a:effectLst/>
                <a:latin typeface="Times New Roman" panose="02020603050405020304" pitchFamily="18" charset="0"/>
                <a:cs typeface="Times New Roman" panose="02020603050405020304" pitchFamily="18" charset="0"/>
              </a:rPr>
              <a:t>Tác hại về kinh tế</a:t>
            </a:r>
            <a:r>
              <a:rPr lang="en-US" sz="2000" dirty="0">
                <a:effectLst/>
                <a:latin typeface="Times New Roman" panose="02020603050405020304" pitchFamily="18" charset="0"/>
                <a:cs typeface="Times New Roman" panose="02020603050405020304" pitchFamily="18" charset="0"/>
              </a:rPr>
              <a:t>: </a:t>
            </a:r>
            <a:r>
              <a:rPr lang="vi-VN" sz="2000" dirty="0">
                <a:effectLst/>
                <a:latin typeface="Times New Roman" panose="02020603050405020304" pitchFamily="18" charset="0"/>
                <a:cs typeface="Times New Roman" panose="02020603050405020304" pitchFamily="18" charset="0"/>
              </a:rPr>
              <a:t>Tham nhũng làm thất thoát những khoản tiền lớn trong xây dựng cơ bản do phải chi phí cho việc đấu thầu, việc cấp vốn, việc thanh tra, kiểm toán và hàng loạt các chi phí tiêu cực khác</a:t>
            </a:r>
            <a:r>
              <a:rPr lang="en-US" sz="2000" dirty="0">
                <a:effectLst/>
                <a:latin typeface="Times New Roman" panose="02020603050405020304" pitchFamily="18" charset="0"/>
                <a:cs typeface="Times New Roman" panose="02020603050405020304" pitchFamily="18" charset="0"/>
              </a:rPr>
              <a:t>. </a:t>
            </a:r>
            <a:r>
              <a:rPr lang="vi-VN" sz="2000" dirty="0">
                <a:effectLst/>
                <a:latin typeface="Times New Roman" panose="02020603050405020304" pitchFamily="18" charset="0"/>
                <a:cs typeface="Times New Roman" panose="02020603050405020304" pitchFamily="18" charset="0"/>
              </a:rPr>
              <a:t>Tham nhũng gây tổn thất lớn cho nguồn thu của ngân sách nhà nước thông qua thuế</a:t>
            </a:r>
            <a:r>
              <a:rPr lang="en-US" sz="2000" dirty="0">
                <a:effectLst/>
                <a:latin typeface="Times New Roman" panose="02020603050405020304" pitchFamily="18" charset="0"/>
                <a:cs typeface="Times New Roman" panose="02020603050405020304" pitchFamily="18" charset="0"/>
              </a:rPr>
              <a:t>; </a:t>
            </a:r>
            <a:r>
              <a:rPr lang="vi-VN" sz="2000" dirty="0">
                <a:effectLst/>
                <a:latin typeface="Times New Roman" panose="02020603050405020304" pitchFamily="18" charset="0"/>
                <a:cs typeface="Times New Roman" panose="02020603050405020304" pitchFamily="18" charset="0"/>
              </a:rPr>
              <a:t>tài sản công trở thành tài sản tư</a:t>
            </a:r>
            <a:r>
              <a:rPr lang="en-US" sz="2000" dirty="0">
                <a:effectLst/>
                <a:latin typeface="Times New Roman" panose="02020603050405020304" pitchFamily="18" charset="0"/>
                <a:cs typeface="Times New Roman" panose="02020603050405020304" pitchFamily="18" charset="0"/>
              </a:rPr>
              <a:t>….</a:t>
            </a:r>
          </a:p>
          <a:p>
            <a:pPr algn="just">
              <a:spcBef>
                <a:spcPts val="600"/>
              </a:spcBef>
              <a:spcAft>
                <a:spcPts val="600"/>
              </a:spcAft>
            </a:pPr>
            <a:r>
              <a:rPr lang="vi-VN" sz="2000" i="1" dirty="0">
                <a:effectLst/>
                <a:latin typeface="Times New Roman" panose="02020603050405020304" pitchFamily="18" charset="0"/>
                <a:cs typeface="Times New Roman" panose="02020603050405020304" pitchFamily="18" charset="0"/>
              </a:rPr>
              <a:t>Tác hại về xã hội</a:t>
            </a:r>
            <a:r>
              <a:rPr lang="en-US" sz="2000" dirty="0">
                <a:effectLst/>
                <a:latin typeface="Times New Roman" panose="02020603050405020304" pitchFamily="18" charset="0"/>
                <a:cs typeface="Times New Roman" panose="02020603050405020304" pitchFamily="18" charset="0"/>
              </a:rPr>
              <a:t>: </a:t>
            </a:r>
            <a:r>
              <a:rPr lang="vi-VN" sz="2000" dirty="0">
                <a:effectLst/>
                <a:latin typeface="Times New Roman" panose="02020603050405020304" pitchFamily="18" charset="0"/>
                <a:cs typeface="Times New Roman" panose="02020603050405020304" pitchFamily="18" charset="0"/>
              </a:rPr>
              <a:t>Tham nhũng làm ảnh hưởng đến các giá trị, các chuẩn mực đạo đức và pháp luật, làm xuống cấp đạo đức của một bộ phận cán bộ, đảng viên.</a:t>
            </a:r>
            <a:endParaRPr lang="en-US" sz="2000" dirty="0">
              <a:effectLst/>
              <a:latin typeface="Times New Roman" panose="02020603050405020304" pitchFamily="18" charset="0"/>
              <a:cs typeface="Times New Roman" panose="02020603050405020304" pitchFamily="18" charset="0"/>
            </a:endParaRPr>
          </a:p>
          <a:p>
            <a:endParaRPr lang="vi-VN" dirty="0"/>
          </a:p>
        </p:txBody>
      </p:sp>
    </p:spTree>
    <p:extLst>
      <p:ext uri="{BB962C8B-B14F-4D97-AF65-F5344CB8AC3E}">
        <p14:creationId xmlns:p14="http://schemas.microsoft.com/office/powerpoint/2010/main" xmlns="" val="464449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anim calcmode="lin" valueType="num">
                                      <p:cBhvr>
                                        <p:cTn id="2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735FB3-B67F-4A00-7014-599011DA4925}"/>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xmlns="" id="{6CA4D1ED-2067-41C7-D798-2C764E6F256D}"/>
              </a:ext>
            </a:extLst>
          </p:cNvPr>
          <p:cNvSpPr>
            <a:spLocks noGrp="1"/>
          </p:cNvSpPr>
          <p:nvPr>
            <p:ph type="title"/>
          </p:nvPr>
        </p:nvSpPr>
        <p:spPr>
          <a:xfrm>
            <a:off x="457200" y="274638"/>
            <a:ext cx="8382000" cy="457199"/>
          </a:xfrm>
        </p:spPr>
        <p:txBody>
          <a:bodyPr>
            <a:normAutofit/>
          </a:bodyPr>
          <a:lstStyle/>
          <a:p>
            <a:pPr algn="ctr"/>
            <a:r>
              <a:rPr lang="en-US" sz="2000" b="1" dirty="0">
                <a:effectLst/>
                <a:latin typeface="Times New Roman" panose="02020603050405020304" pitchFamily="18" charset="0"/>
                <a:cs typeface="Times New Roman" panose="02020603050405020304" pitchFamily="18" charset="0"/>
              </a:rPr>
              <a:t>6. Ý </a:t>
            </a:r>
            <a:r>
              <a:rPr lang="en-US" sz="2000" b="1" dirty="0" err="1">
                <a:effectLst/>
                <a:latin typeface="Times New Roman" panose="02020603050405020304" pitchFamily="18" charset="0"/>
                <a:cs typeface="Times New Roman" panose="02020603050405020304" pitchFamily="18" charset="0"/>
              </a:rPr>
              <a:t>nghĩa</a:t>
            </a:r>
            <a:r>
              <a:rPr lang="en-US" sz="2000" b="1" dirty="0">
                <a:effectLst/>
                <a:latin typeface="Times New Roman" panose="02020603050405020304" pitchFamily="18" charset="0"/>
                <a:cs typeface="Times New Roman" panose="02020603050405020304" pitchFamily="18" charset="0"/>
              </a:rPr>
              <a:t> </a:t>
            </a:r>
            <a:r>
              <a:rPr lang="en-US" sz="2000" b="1" dirty="0" err="1">
                <a:effectLst/>
                <a:latin typeface="Times New Roman" panose="02020603050405020304" pitchFamily="18" charset="0"/>
                <a:cs typeface="Times New Roman" panose="02020603050405020304" pitchFamily="18" charset="0"/>
              </a:rPr>
              <a:t>của</a:t>
            </a:r>
            <a:r>
              <a:rPr lang="en-US" sz="2000" b="1" dirty="0">
                <a:effectLst/>
                <a:latin typeface="Times New Roman" panose="02020603050405020304" pitchFamily="18" charset="0"/>
                <a:cs typeface="Times New Roman" panose="02020603050405020304" pitchFamily="18" charset="0"/>
              </a:rPr>
              <a:t> </a:t>
            </a:r>
            <a:r>
              <a:rPr lang="en-US" sz="2000" b="1" dirty="0" err="1">
                <a:effectLst/>
                <a:latin typeface="Times New Roman" panose="02020603050405020304" pitchFamily="18" charset="0"/>
                <a:cs typeface="Times New Roman" panose="02020603050405020304" pitchFamily="18" charset="0"/>
              </a:rPr>
              <a:t>phòng</a:t>
            </a:r>
            <a:r>
              <a:rPr lang="en-US" sz="2000" b="1" dirty="0">
                <a:effectLst/>
                <a:latin typeface="Times New Roman" panose="02020603050405020304" pitchFamily="18" charset="0"/>
                <a:cs typeface="Times New Roman" panose="02020603050405020304" pitchFamily="18" charset="0"/>
              </a:rPr>
              <a:t>, </a:t>
            </a:r>
            <a:r>
              <a:rPr lang="en-US" sz="2000" b="1" dirty="0" err="1">
                <a:effectLst/>
                <a:latin typeface="Times New Roman" panose="02020603050405020304" pitchFamily="18" charset="0"/>
                <a:cs typeface="Times New Roman" panose="02020603050405020304" pitchFamily="18" charset="0"/>
              </a:rPr>
              <a:t>chống</a:t>
            </a:r>
            <a:r>
              <a:rPr lang="en-US" sz="2000" b="1" dirty="0">
                <a:effectLst/>
                <a:latin typeface="Times New Roman" panose="02020603050405020304" pitchFamily="18" charset="0"/>
                <a:cs typeface="Times New Roman" panose="02020603050405020304" pitchFamily="18" charset="0"/>
              </a:rPr>
              <a:t> </a:t>
            </a:r>
            <a:r>
              <a:rPr lang="en-US" sz="2000" b="1" dirty="0" err="1">
                <a:effectLst/>
                <a:latin typeface="Times New Roman" panose="02020603050405020304" pitchFamily="18" charset="0"/>
                <a:cs typeface="Times New Roman" panose="02020603050405020304" pitchFamily="18" charset="0"/>
              </a:rPr>
              <a:t>tham</a:t>
            </a:r>
            <a:r>
              <a:rPr lang="en-US" sz="2000" b="1" dirty="0">
                <a:effectLst/>
                <a:latin typeface="Times New Roman" panose="02020603050405020304" pitchFamily="18" charset="0"/>
                <a:cs typeface="Times New Roman" panose="02020603050405020304" pitchFamily="18" charset="0"/>
              </a:rPr>
              <a:t> </a:t>
            </a:r>
            <a:r>
              <a:rPr lang="en-US" sz="2000" b="1" dirty="0" err="1">
                <a:effectLst/>
                <a:latin typeface="Times New Roman" panose="02020603050405020304" pitchFamily="18" charset="0"/>
                <a:cs typeface="Times New Roman" panose="02020603050405020304" pitchFamily="18" charset="0"/>
              </a:rPr>
              <a:t>nhũng</a:t>
            </a:r>
            <a:r>
              <a:rPr lang="en-US" sz="2000" b="1" dirty="0">
                <a:effectLst/>
                <a:latin typeface="Times New Roman" panose="02020603050405020304" pitchFamily="18" charset="0"/>
                <a:cs typeface="Times New Roman" panose="02020603050405020304" pitchFamily="18" charset="0"/>
              </a:rPr>
              <a:t> </a:t>
            </a:r>
            <a:endParaRPr lang="vi-VN" sz="2000" b="1" dirty="0">
              <a:effectLst/>
              <a:latin typeface="Times New Roman" panose="02020603050405020304" pitchFamily="18"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xmlns="" id="{461B9FE3-9D6E-FC81-04A2-FC4EF14DD910}"/>
              </a:ext>
            </a:extLst>
          </p:cNvPr>
          <p:cNvSpPr>
            <a:spLocks noGrp="1"/>
          </p:cNvSpPr>
          <p:nvPr>
            <p:ph idx="1"/>
          </p:nvPr>
        </p:nvSpPr>
        <p:spPr>
          <a:xfrm>
            <a:off x="457200" y="1066800"/>
            <a:ext cx="8229600" cy="5059363"/>
          </a:xfrm>
        </p:spPr>
        <p:txBody>
          <a:bodyPr/>
          <a:lstStyle/>
          <a:p>
            <a:pPr algn="just">
              <a:spcBef>
                <a:spcPts val="600"/>
              </a:spcBef>
              <a:spcAft>
                <a:spcPts val="600"/>
              </a:spcAft>
            </a:pPr>
            <a:r>
              <a:rPr lang="vi-VN" sz="2000" dirty="0">
                <a:effectLst/>
                <a:latin typeface="Times New Roman" panose="02020603050405020304" pitchFamily="18" charset="0"/>
                <a:cs typeface="Times New Roman" panose="02020603050405020304" pitchFamily="18" charset="0"/>
              </a:rPr>
              <a:t>Phòng, chống tham nhũng góp phần bảo vệ chế độ, xây dựng Nhà nước pháp quyền</a:t>
            </a:r>
            <a:r>
              <a:rPr lang="en-US" sz="2000" dirty="0">
                <a:effectLst/>
                <a:latin typeface="Times New Roman" panose="02020603050405020304" pitchFamily="18" charset="0"/>
                <a:cs typeface="Times New Roman" panose="02020603050405020304" pitchFamily="18" charset="0"/>
              </a:rPr>
              <a:t>.</a:t>
            </a:r>
          </a:p>
          <a:p>
            <a:pPr algn="just">
              <a:spcBef>
                <a:spcPts val="600"/>
              </a:spcBef>
              <a:spcAft>
                <a:spcPts val="600"/>
              </a:spcAft>
            </a:pPr>
            <a:r>
              <a:rPr lang="vi-VN" sz="2000" dirty="0">
                <a:effectLst/>
                <a:latin typeface="Times New Roman" panose="02020603050405020304" pitchFamily="18" charset="0"/>
                <a:cs typeface="Times New Roman" panose="02020603050405020304" pitchFamily="18" charset="0"/>
              </a:rPr>
              <a:t>Phòng, chống tham nhũng góp phần tăng trưởng kinh tế đất nước, nâng cao đời sống nhân dân</a:t>
            </a:r>
            <a:r>
              <a:rPr lang="en-US" sz="2000" dirty="0">
                <a:effectLst/>
                <a:latin typeface="Times New Roman" panose="02020603050405020304" pitchFamily="18" charset="0"/>
                <a:cs typeface="Times New Roman" panose="02020603050405020304" pitchFamily="18" charset="0"/>
              </a:rPr>
              <a:t>.</a:t>
            </a:r>
          </a:p>
          <a:p>
            <a:pPr algn="just">
              <a:spcBef>
                <a:spcPts val="600"/>
              </a:spcBef>
              <a:spcAft>
                <a:spcPts val="600"/>
              </a:spcAft>
            </a:pPr>
            <a:r>
              <a:rPr lang="vi-VN" sz="2000" dirty="0">
                <a:effectLst/>
                <a:latin typeface="Times New Roman" panose="02020603050405020304" pitchFamily="18" charset="0"/>
                <a:cs typeface="Times New Roman" panose="02020603050405020304" pitchFamily="18" charset="0"/>
              </a:rPr>
              <a:t>Phòng, chống tham nhũng góp phần duy trì các giá trị đạo đức truyền thống, làm lành mạnh các quan hệ xã hội</a:t>
            </a:r>
            <a:r>
              <a:rPr lang="en-US" sz="2000" dirty="0">
                <a:effectLst/>
                <a:latin typeface="Times New Roman" panose="02020603050405020304" pitchFamily="18" charset="0"/>
                <a:cs typeface="Times New Roman" panose="02020603050405020304" pitchFamily="18" charset="0"/>
              </a:rPr>
              <a:t>.</a:t>
            </a:r>
          </a:p>
          <a:p>
            <a:pPr algn="just">
              <a:spcBef>
                <a:spcPts val="600"/>
              </a:spcBef>
              <a:spcAft>
                <a:spcPts val="600"/>
              </a:spcAft>
            </a:pPr>
            <a:r>
              <a:rPr lang="vi-VN" sz="2000" dirty="0">
                <a:effectLst/>
                <a:latin typeface="Times New Roman" panose="02020603050405020304" pitchFamily="18" charset="0"/>
                <a:cs typeface="Times New Roman" panose="02020603050405020304" pitchFamily="18" charset="0"/>
              </a:rPr>
              <a:t>Phòng, chống tham nhũng góp phần củng cố niềm tin của nhân dân vào chế độ và pháp luật</a:t>
            </a:r>
            <a:r>
              <a:rPr lang="en-US" sz="2000" dirty="0">
                <a:effectLst/>
                <a:latin typeface="Times New Roman" panose="02020603050405020304" pitchFamily="18" charset="0"/>
                <a:cs typeface="Times New Roman" panose="02020603050405020304" pitchFamily="18" charset="0"/>
              </a:rPr>
              <a:t>.</a:t>
            </a:r>
          </a:p>
          <a:p>
            <a:endParaRPr lang="vi-VN" dirty="0"/>
          </a:p>
        </p:txBody>
      </p:sp>
    </p:spTree>
    <p:extLst>
      <p:ext uri="{BB962C8B-B14F-4D97-AF65-F5344CB8AC3E}">
        <p14:creationId xmlns:p14="http://schemas.microsoft.com/office/powerpoint/2010/main" xmlns="" val="3884096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6AB504-A48E-8A39-66FB-154E37CD506B}"/>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xmlns="" id="{BD1810A5-B057-3B25-9575-F6B522469A6C}"/>
              </a:ext>
            </a:extLst>
          </p:cNvPr>
          <p:cNvSpPr>
            <a:spLocks noGrp="1"/>
          </p:cNvSpPr>
          <p:nvPr>
            <p:ph type="title"/>
          </p:nvPr>
        </p:nvSpPr>
        <p:spPr>
          <a:xfrm>
            <a:off x="323528" y="274638"/>
            <a:ext cx="8640960" cy="634082"/>
          </a:xfrm>
        </p:spPr>
        <p:txBody>
          <a:bodyPr>
            <a:normAutofit/>
          </a:bodyPr>
          <a:lstStyle/>
          <a:p>
            <a:r>
              <a:rPr lang="en-US" sz="2500" b="1" dirty="0">
                <a:effectLst/>
                <a:latin typeface="Times New Roman" panose="02020603050405020304" pitchFamily="18" charset="0"/>
                <a:cs typeface="Times New Roman" panose="02020603050405020304" pitchFamily="18" charset="0"/>
              </a:rPr>
              <a:t>7. Trách </a:t>
            </a:r>
            <a:r>
              <a:rPr lang="en-US" sz="2500" b="1" dirty="0" err="1">
                <a:effectLst/>
                <a:latin typeface="Times New Roman" panose="02020603050405020304" pitchFamily="18" charset="0"/>
                <a:cs typeface="Times New Roman" panose="02020603050405020304" pitchFamily="18" charset="0"/>
              </a:rPr>
              <a:t>nhiệm</a:t>
            </a:r>
            <a:r>
              <a:rPr lang="en-US" sz="2500" b="1" dirty="0">
                <a:effectLst/>
                <a:latin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cs typeface="Times New Roman" panose="02020603050405020304" pitchFamily="18" charset="0"/>
              </a:rPr>
              <a:t>của</a:t>
            </a:r>
            <a:r>
              <a:rPr lang="en-US" sz="2500" b="1" dirty="0">
                <a:effectLst/>
                <a:latin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cs typeface="Times New Roman" panose="02020603050405020304" pitchFamily="18" charset="0"/>
              </a:rPr>
              <a:t>công</a:t>
            </a:r>
            <a:r>
              <a:rPr lang="en-US" sz="2500" b="1" dirty="0">
                <a:effectLst/>
                <a:latin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cs typeface="Times New Roman" panose="02020603050405020304" pitchFamily="18" charset="0"/>
              </a:rPr>
              <a:t>dân</a:t>
            </a:r>
            <a:r>
              <a:rPr lang="en-US" sz="2500" b="1" dirty="0">
                <a:effectLst/>
                <a:latin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cs typeface="Times New Roman" panose="02020603050405020304" pitchFamily="18" charset="0"/>
              </a:rPr>
              <a:t>trong</a:t>
            </a:r>
            <a:r>
              <a:rPr lang="en-US" sz="2500" b="1" dirty="0">
                <a:effectLst/>
                <a:latin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cs typeface="Times New Roman" panose="02020603050405020304" pitchFamily="18" charset="0"/>
              </a:rPr>
              <a:t>phòng</a:t>
            </a:r>
            <a:r>
              <a:rPr lang="en-US" sz="2500" b="1" dirty="0">
                <a:effectLst/>
                <a:latin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cs typeface="Times New Roman" panose="02020603050405020304" pitchFamily="18" charset="0"/>
              </a:rPr>
              <a:t>chống</a:t>
            </a:r>
            <a:r>
              <a:rPr lang="en-US" sz="2500" b="1" dirty="0">
                <a:effectLst/>
                <a:latin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cs typeface="Times New Roman" panose="02020603050405020304" pitchFamily="18" charset="0"/>
              </a:rPr>
              <a:t>tham</a:t>
            </a:r>
            <a:r>
              <a:rPr lang="en-US" sz="2500" b="1" dirty="0">
                <a:effectLst/>
                <a:latin typeface="Times New Roman" panose="02020603050405020304" pitchFamily="18" charset="0"/>
                <a:cs typeface="Times New Roman" panose="02020603050405020304" pitchFamily="18" charset="0"/>
              </a:rPr>
              <a:t> </a:t>
            </a:r>
            <a:r>
              <a:rPr lang="en-US" sz="2500" b="1" dirty="0" err="1">
                <a:effectLst/>
                <a:latin typeface="Times New Roman" panose="02020603050405020304" pitchFamily="18" charset="0"/>
                <a:cs typeface="Times New Roman" panose="02020603050405020304" pitchFamily="18" charset="0"/>
              </a:rPr>
              <a:t>nhũng</a:t>
            </a:r>
            <a:endParaRPr lang="vi-VN" sz="2500" b="1" dirty="0">
              <a:effectLst/>
              <a:latin typeface="Times New Roman" panose="02020603050405020304" pitchFamily="18"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xmlns="" id="{A5D95C9A-56BD-FD26-8023-A739BC2D84FF}"/>
              </a:ext>
            </a:extLst>
          </p:cNvPr>
          <p:cNvSpPr>
            <a:spLocks noGrp="1"/>
          </p:cNvSpPr>
          <p:nvPr>
            <p:ph idx="1"/>
          </p:nvPr>
        </p:nvSpPr>
        <p:spPr>
          <a:xfrm>
            <a:off x="457200" y="1447800"/>
            <a:ext cx="8229600" cy="4678363"/>
          </a:xfrm>
        </p:spPr>
        <p:txBody>
          <a:bodyPr/>
          <a:lstStyle/>
          <a:p>
            <a:pPr algn="just">
              <a:spcBef>
                <a:spcPts val="600"/>
              </a:spcBef>
              <a:spcAft>
                <a:spcPts val="600"/>
              </a:spcAft>
            </a:pPr>
            <a:r>
              <a:rPr lang="vi-VN" sz="2200" dirty="0">
                <a:effectLst/>
                <a:latin typeface="Times New Roman" panose="02020603050405020304" pitchFamily="18" charset="0"/>
                <a:cs typeface="Times New Roman" panose="02020603050405020304" pitchFamily="18" charset="0"/>
              </a:rPr>
              <a:t>Chấp hành nghiêm chỉnh pháp luật về phòng, chống tham nhũng; </a:t>
            </a:r>
            <a:endParaRPr lang="en-US" sz="2200" dirty="0">
              <a:effectLst/>
              <a:latin typeface="Times New Roman" panose="02020603050405020304" pitchFamily="18" charset="0"/>
              <a:cs typeface="Times New Roman" panose="02020603050405020304" pitchFamily="18" charset="0"/>
            </a:endParaRPr>
          </a:p>
          <a:p>
            <a:pPr algn="just">
              <a:spcBef>
                <a:spcPts val="600"/>
              </a:spcBef>
              <a:spcAft>
                <a:spcPts val="600"/>
              </a:spcAft>
            </a:pPr>
            <a:r>
              <a:rPr lang="vi-VN" sz="2200" dirty="0">
                <a:effectLst/>
                <a:latin typeface="Times New Roman" panose="02020603050405020304" pitchFamily="18" charset="0"/>
                <a:cs typeface="Times New Roman" panose="02020603050405020304" pitchFamily="18" charset="0"/>
              </a:rPr>
              <a:t>Lên án, đấu tranh với những người có hành vi tham nhũng; </a:t>
            </a:r>
            <a:endParaRPr lang="en-US" sz="2200" dirty="0">
              <a:effectLst/>
              <a:latin typeface="Times New Roman" panose="02020603050405020304" pitchFamily="18" charset="0"/>
              <a:cs typeface="Times New Roman" panose="02020603050405020304" pitchFamily="18" charset="0"/>
            </a:endParaRPr>
          </a:p>
          <a:p>
            <a:pPr algn="just">
              <a:spcBef>
                <a:spcPts val="600"/>
              </a:spcBef>
              <a:spcAft>
                <a:spcPts val="600"/>
              </a:spcAft>
            </a:pPr>
            <a:r>
              <a:rPr lang="vi-VN" sz="2200" dirty="0">
                <a:effectLst/>
                <a:latin typeface="Times New Roman" panose="02020603050405020304" pitchFamily="18" charset="0"/>
                <a:cs typeface="Times New Roman" panose="02020603050405020304" pitchFamily="18" charset="0"/>
              </a:rPr>
              <a:t>Phát hiện, tố cáo hành vi tham nhũng; </a:t>
            </a:r>
            <a:endParaRPr lang="en-US" sz="2200" dirty="0">
              <a:effectLst/>
              <a:latin typeface="Times New Roman" panose="02020603050405020304" pitchFamily="18" charset="0"/>
              <a:cs typeface="Times New Roman" panose="02020603050405020304" pitchFamily="18" charset="0"/>
            </a:endParaRPr>
          </a:p>
          <a:p>
            <a:pPr algn="just">
              <a:spcBef>
                <a:spcPts val="600"/>
              </a:spcBef>
              <a:spcAft>
                <a:spcPts val="600"/>
              </a:spcAft>
            </a:pPr>
            <a:r>
              <a:rPr lang="vi-VN" sz="2200" dirty="0">
                <a:effectLst/>
                <a:latin typeface="Times New Roman" panose="02020603050405020304" pitchFamily="18" charset="0"/>
                <a:cs typeface="Times New Roman" panose="02020603050405020304" pitchFamily="18" charset="0"/>
              </a:rPr>
              <a:t>Hợp tác với các cơ quan có thẩm quyền trong việc xác minh, xử lý hành vi tham nhũng; </a:t>
            </a:r>
            <a:endParaRPr lang="en-US" sz="2200" dirty="0">
              <a:effectLst/>
              <a:latin typeface="Times New Roman" panose="02020603050405020304" pitchFamily="18" charset="0"/>
              <a:cs typeface="Times New Roman" panose="02020603050405020304" pitchFamily="18" charset="0"/>
            </a:endParaRPr>
          </a:p>
          <a:p>
            <a:pPr algn="just">
              <a:spcBef>
                <a:spcPts val="600"/>
              </a:spcBef>
              <a:spcAft>
                <a:spcPts val="600"/>
              </a:spcAft>
            </a:pPr>
            <a:r>
              <a:rPr lang="vi-VN" sz="2200" dirty="0">
                <a:effectLst/>
                <a:latin typeface="Times New Roman" panose="02020603050405020304" pitchFamily="18" charset="0"/>
                <a:cs typeface="Times New Roman" panose="02020603050405020304" pitchFamily="18" charset="0"/>
              </a:rPr>
              <a:t>Kiến nghị với cơ quan nhà nước có thẩm quyền hoàn thiện cơ chế, chính sách pháp luật về phòng, chống tham nhũng; </a:t>
            </a:r>
            <a:endParaRPr lang="en-US" sz="2200" dirty="0">
              <a:effectLst/>
              <a:latin typeface="Times New Roman" panose="02020603050405020304" pitchFamily="18" charset="0"/>
              <a:cs typeface="Times New Roman" panose="02020603050405020304" pitchFamily="18" charset="0"/>
            </a:endParaRPr>
          </a:p>
          <a:p>
            <a:pPr algn="just">
              <a:spcBef>
                <a:spcPts val="600"/>
              </a:spcBef>
              <a:spcAft>
                <a:spcPts val="600"/>
              </a:spcAft>
            </a:pPr>
            <a:r>
              <a:rPr lang="vi-VN" sz="2200" dirty="0">
                <a:effectLst/>
                <a:latin typeface="Times New Roman" panose="02020603050405020304" pitchFamily="18" charset="0"/>
                <a:cs typeface="Times New Roman" panose="02020603050405020304" pitchFamily="18" charset="0"/>
              </a:rPr>
              <a:t>Góp ý kiến xây dựng pháp luật về phòng, chống tham nhũng.</a:t>
            </a:r>
          </a:p>
        </p:txBody>
      </p:sp>
    </p:spTree>
    <p:extLst>
      <p:ext uri="{BB962C8B-B14F-4D97-AF65-F5344CB8AC3E}">
        <p14:creationId xmlns:p14="http://schemas.microsoft.com/office/powerpoint/2010/main" xmlns="" val="2925117469"/>
      </p:ext>
    </p:extLst>
  </p:cSld>
  <p:clrMapOvr>
    <a:masterClrMapping/>
  </p:clrMapOvr>
</p:sld>
</file>

<file path=ppt/theme/theme1.xml><?xml version="1.0" encoding="utf-8"?>
<a:theme xmlns:a="http://schemas.openxmlformats.org/drawingml/2006/main" name="template 2016">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smtClean="0">
            <a:latin typeface="+mj-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559BBB3E04CE4FB7D7B9179CE5FF8A" ma:contentTypeVersion="3" ma:contentTypeDescription="Create a new document." ma:contentTypeScope="" ma:versionID="261c60b58c452ad9ed03265d176c24a8">
  <xsd:schema xmlns:xsd="http://www.w3.org/2001/XMLSchema" xmlns:xs="http://www.w3.org/2001/XMLSchema" xmlns:p="http://schemas.microsoft.com/office/2006/metadata/properties" xmlns:ns2="9e18689c-e6d7-49bd-8522-da28bab5bbe4" targetNamespace="http://schemas.microsoft.com/office/2006/metadata/properties" ma:root="true" ma:fieldsID="ded7c53be1ef62f52676fa4a9b4f7d87" ns2:_="">
    <xsd:import namespace="9e18689c-e6d7-49bd-8522-da28bab5bbe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8689c-e6d7-49bd-8522-da28bab5bb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0009291-6F8F-44EC-B1CE-42CA4B43BFA1}"/>
</file>

<file path=customXml/itemProps2.xml><?xml version="1.0" encoding="utf-8"?>
<ds:datastoreItem xmlns:ds="http://schemas.openxmlformats.org/officeDocument/2006/customXml" ds:itemID="{E3BF2BD5-70E6-4B47-B845-6CBA901B8DD3}"/>
</file>

<file path=customXml/itemProps3.xml><?xml version="1.0" encoding="utf-8"?>
<ds:datastoreItem xmlns:ds="http://schemas.openxmlformats.org/officeDocument/2006/customXml" ds:itemID="{BDAA34D4-FBE0-4E44-B64E-E8105726A538}"/>
</file>

<file path=docProps/app.xml><?xml version="1.0" encoding="utf-8"?>
<Properties xmlns="http://schemas.openxmlformats.org/officeDocument/2006/extended-properties" xmlns:vt="http://schemas.openxmlformats.org/officeDocument/2006/docPropsVTypes">
  <TotalTime>7864</TotalTime>
  <Words>1731</Words>
  <Application>Microsoft Office PowerPoint</Application>
  <PresentationFormat>On-screen Show (4:3)</PresentationFormat>
  <Paragraphs>84</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template 2016</vt:lpstr>
      <vt:lpstr>Slide 1</vt:lpstr>
      <vt:lpstr>Nội dung</vt:lpstr>
      <vt:lpstr>1.1. Khái niệm tham nhũng</vt:lpstr>
      <vt:lpstr>1.2. Các dấu hiệu cấu thành hành vi tham nhũng</vt:lpstr>
      <vt:lpstr>2. Chủ thể tham nhũng</vt:lpstr>
      <vt:lpstr>Chủ thể trong khu vực tư nhân</vt:lpstr>
      <vt:lpstr>Cấu thành VPPL về tham nhũng</vt:lpstr>
      <vt:lpstr>3. Các tội tham nhũng</vt:lpstr>
      <vt:lpstr>3. Các tội tham nhũng (tiếp)</vt:lpstr>
      <vt:lpstr>3. Các tội tham nhũng (tiếp)</vt:lpstr>
      <vt:lpstr>4. Nguyên nhân của tham nhũng</vt:lpstr>
      <vt:lpstr>5. Tác hại của tham nhũng</vt:lpstr>
      <vt:lpstr>6. Ý nghĩa của phòng, chống tham nhũng </vt:lpstr>
      <vt:lpstr>7. Trách nhiệm của công dân trong phòng, chống tham nhũng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VĂN HÓA KINH DOANH  VÀ TINH THẦN KHỞI NGHIỆP</dc:title>
  <dc:creator>Nguyen Van Lam</dc:creator>
  <cp:lastModifiedBy>ASUS</cp:lastModifiedBy>
  <cp:revision>210</cp:revision>
  <dcterms:created xsi:type="dcterms:W3CDTF">2020-09-29T04:31:24Z</dcterms:created>
  <dcterms:modified xsi:type="dcterms:W3CDTF">2025-04-02T23:48:55Z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0x01010006559BBB3E04CE4FB7D7B9179CE5FF8A</vt:lpwstr>
  </property>
</Properties>
</file>